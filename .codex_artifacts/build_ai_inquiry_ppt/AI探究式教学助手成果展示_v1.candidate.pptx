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aa14042a32460a" /><Relationship Type="http://schemas.openxmlformats.org/officeDocument/2006/relationships/extended-properties" Target="/docProps/app.xml" Id="R9d094a239f7e47f2" /><Relationship Type="http://schemas.openxmlformats.org/officeDocument/2006/relationships/officeDocument" Target="/ppt/presentation.xml" Id="R755d5d84d4c248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518ec76c4348f8"/>
  </p:sldMasterIdLst>
  <p:notesMasterIdLst>
    <p:notesMasterId xmlns:r="http://schemas.openxmlformats.org/officeDocument/2006/relationships" r:id="R20c8309e3bdd4b62"/>
  </p:notesMasterIdLst>
  <p:sldIdLst>
    <p:sldId xmlns:r="http://schemas.openxmlformats.org/officeDocument/2006/relationships" id="256" r:id="R87082fce23c94cf3"/>
    <p:sldId xmlns:r="http://schemas.openxmlformats.org/officeDocument/2006/relationships" id="257" r:id="R0a4f91504a2542d9"/>
    <p:sldId xmlns:r="http://schemas.openxmlformats.org/officeDocument/2006/relationships" id="258" r:id="R7976aa09615448f8"/>
    <p:sldId xmlns:r="http://schemas.openxmlformats.org/officeDocument/2006/relationships" id="259" r:id="Raf8cbf3c7d8e45f7"/>
    <p:sldId xmlns:r="http://schemas.openxmlformats.org/officeDocument/2006/relationships" id="260" r:id="R140f0daf8f894858"/>
    <p:sldId xmlns:r="http://schemas.openxmlformats.org/officeDocument/2006/relationships" id="261" r:id="R942d9bfa2f534b70"/>
    <p:sldId xmlns:r="http://schemas.openxmlformats.org/officeDocument/2006/relationships" id="262" r:id="Rd50c945dcd7d4f0c"/>
    <p:sldId xmlns:r="http://schemas.openxmlformats.org/officeDocument/2006/relationships" id="263" r:id="R1618e94355a74037"/>
    <p:sldId xmlns:r="http://schemas.openxmlformats.org/officeDocument/2006/relationships" id="264" r:id="Rcce87a0302db4516"/>
    <p:sldId xmlns:r="http://schemas.openxmlformats.org/officeDocument/2006/relationships" id="265" r:id="Rc3218d3d9c404e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dcbbfa1df54e3f" /><Relationship Type="http://schemas.openxmlformats.org/officeDocument/2006/relationships/slideMaster" Target="/ppt/slideMasters/slideMaster1.xml" Id="Rf0518ec76c4348f8" /><Relationship Type="http://schemas.openxmlformats.org/officeDocument/2006/relationships/notesMaster" Target="/ppt/notesMasters/notesMaster1.xml" Id="R20c8309e3bdd4b62" /><Relationship Type="http://schemas.openxmlformats.org/officeDocument/2006/relationships/presProps" Target="/ppt/presProps.xml" Id="R951605d802444095" /><Relationship Type="http://schemas.openxmlformats.org/officeDocument/2006/relationships/tableStyles" Target="/ppt/tableStyles.xml" Id="R7255d497f9a742be" /><Relationship Type="http://schemas.openxmlformats.org/officeDocument/2006/relationships/slide" Target="/ppt/slides/slide1.xml" Id="R87082fce23c94cf3" /><Relationship Type="http://schemas.openxmlformats.org/officeDocument/2006/relationships/slide" Target="/ppt/slides/slide2.xml" Id="R0a4f91504a2542d9" /><Relationship Type="http://schemas.openxmlformats.org/officeDocument/2006/relationships/slide" Target="/ppt/slides/slide3.xml" Id="R7976aa09615448f8" /><Relationship Type="http://schemas.openxmlformats.org/officeDocument/2006/relationships/slide" Target="/ppt/slides/slide4.xml" Id="Raf8cbf3c7d8e45f7" /><Relationship Type="http://schemas.openxmlformats.org/officeDocument/2006/relationships/slide" Target="/ppt/slides/slide5.xml" Id="R140f0daf8f894858" /><Relationship Type="http://schemas.openxmlformats.org/officeDocument/2006/relationships/slide" Target="/ppt/slides/slide6.xml" Id="R942d9bfa2f534b70" /><Relationship Type="http://schemas.openxmlformats.org/officeDocument/2006/relationships/slide" Target="/ppt/slides/slide7.xml" Id="Rd50c945dcd7d4f0c" /><Relationship Type="http://schemas.openxmlformats.org/officeDocument/2006/relationships/slide" Target="/ppt/slides/slide8.xml" Id="R1618e94355a74037" /><Relationship Type="http://schemas.openxmlformats.org/officeDocument/2006/relationships/slide" Target="/ppt/slides/slide9.xml" Id="Rcce87a0302db4516" /><Relationship Type="http://schemas.openxmlformats.org/officeDocument/2006/relationships/slide" Target="/ppt/slides/slide10.xml" Id="Rc3218d3d9c404e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74c7432dac4b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02c7252b564fcb" /><Relationship Type="http://schemas.openxmlformats.org/officeDocument/2006/relationships/notesMaster" Target="/ppt/notesMasters/notesMaster1.xml" Id="R4aaa8b93a17d46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a7d18455974c71" /><Relationship Type="http://schemas.openxmlformats.org/officeDocument/2006/relationships/notesMaster" Target="/ppt/notesMasters/notesMaster1.xml" Id="R1b5e8c965d2f4c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296680c6364db3" /><Relationship Type="http://schemas.openxmlformats.org/officeDocument/2006/relationships/notesMaster" Target="/ppt/notesMasters/notesMaster1.xml" Id="R93e9e3a6df9a45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70bf6a7fa64f5a" /><Relationship Type="http://schemas.openxmlformats.org/officeDocument/2006/relationships/notesMaster" Target="/ppt/notesMasters/notesMaster1.xml" Id="R6f59abe9b50749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eea97afe074091" /><Relationship Type="http://schemas.openxmlformats.org/officeDocument/2006/relationships/notesMaster" Target="/ppt/notesMasters/notesMaster1.xml" Id="R5bf7d21c6ced49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481918972e4af4" /><Relationship Type="http://schemas.openxmlformats.org/officeDocument/2006/relationships/notesMaster" Target="/ppt/notesMasters/notesMaster1.xml" Id="Ra05291cd5e4241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93fd0f384d44d7" /><Relationship Type="http://schemas.openxmlformats.org/officeDocument/2006/relationships/notesMaster" Target="/ppt/notesMasters/notesMaster1.xml" Id="R810f3dc1336743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43e6f0c54b4ba1" /><Relationship Type="http://schemas.openxmlformats.org/officeDocument/2006/relationships/notesMaster" Target="/ppt/notesMasters/notesMaster1.xml" Id="R008efa147b994d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4d6f397469427c" /><Relationship Type="http://schemas.openxmlformats.org/officeDocument/2006/relationships/notesMaster" Target="/ppt/notesMasters/notesMaster1.xml" Id="R4cf861c1656d42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d301c437bb437a" /><Relationship Type="http://schemas.openxmlformats.org/officeDocument/2006/relationships/notesMaster" Target="/ppt/notesMasters/notesMaster1.xml" Id="Rb59035022c004a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内容依据当前仓库 README、PROJECT_STRUCTURE、前后端代码和已生成的发展规划文档整理。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 README 中项目定位、主导师与领域专家、会话参考资料等说明。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七阶段流程来自项目工作流设计。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教师在环基于当前交互流程：阶段推进、专家选择、草案审阅和导出。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当前仓库配置包含 main_tutor 与昆虫、自然生态、数学、安全、物理等专家 Agent。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架构依据 README 与 PROJECT_STRUCTURE：FastAPI 后端、Vue3 前端、SQLite 数据库、SSE 流式响应。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 App.vue、session_files、sessions、export 等模块能力整理。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 README 中本地课标混合 RAG 与 curriculum_knowledge_service、rag_service、curriculum_permission_service。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完成情况依据当前仓库模块与已完成文档汇总。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未来方向依据平台未来发展方向与测试规划文档整理，重点包括后台系统、长期观察昆虫生命周期和并发测试。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3ec6dc19147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83c55637ee4718" /><Relationship Type="http://schemas.openxmlformats.org/officeDocument/2006/relationships/slideLayout" Target="/ppt/slideLayouts/slideLayout1.xml" Id="R8ff792f088154b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f792f088154b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de467d9fd437f" /><Relationship Type="http://schemas.openxmlformats.org/officeDocument/2006/relationships/image" Target="/ppt/media/image.png" Id="R092df6ebb31a44a5" /><Relationship Type="http://schemas.openxmlformats.org/officeDocument/2006/relationships/notesSlide" Target="/ppt/notesSlides/notesSlide1.xml" Id="R4627f2cd995340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95567fa4a4e35" /><Relationship Type="http://schemas.openxmlformats.org/officeDocument/2006/relationships/image" Target="/ppt/media/image2.png" Id="R782e3a547241438b" /><Relationship Type="http://schemas.openxmlformats.org/officeDocument/2006/relationships/notesSlide" Target="/ppt/notesSlides/notesSlide2.xml" Id="R6ff51d5cdf594e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ce2f62a86453f" /><Relationship Type="http://schemas.openxmlformats.org/officeDocument/2006/relationships/notesSlide" Target="/ppt/notesSlides/notesSlide3.xml" Id="R40e70ad7131940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c754b995f49fb" /><Relationship Type="http://schemas.openxmlformats.org/officeDocument/2006/relationships/notesSlide" Target="/ppt/notesSlides/notesSlide4.xml" Id="R31735930c3434c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4384715a042b6" /><Relationship Type="http://schemas.openxmlformats.org/officeDocument/2006/relationships/notesSlide" Target="/ppt/notesSlides/notesSlide5.xml" Id="Rc0c06b61df7a4a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54de5ea0240f7" /><Relationship Type="http://schemas.openxmlformats.org/officeDocument/2006/relationships/image" Target="/ppt/media/image3.png" Id="R9ed240cfaff34485" /><Relationship Type="http://schemas.openxmlformats.org/officeDocument/2006/relationships/notesSlide" Target="/ppt/notesSlides/notesSlide6.xml" Id="Ra703808f14df41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5c149364f4810" /><Relationship Type="http://schemas.openxmlformats.org/officeDocument/2006/relationships/notesSlide" Target="/ppt/notesSlides/notesSlide7.xml" Id="R5dae6612a93946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4cf798907433e" /><Relationship Type="http://schemas.openxmlformats.org/officeDocument/2006/relationships/notesSlide" Target="/ppt/notesSlides/notesSlide8.xml" Id="R32a231badd8348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14c4b532b4abb" /><Relationship Type="http://schemas.openxmlformats.org/officeDocument/2006/relationships/image" Target="/ppt/media/image4.png" Id="R04aedd236db544ca" /><Relationship Type="http://schemas.openxmlformats.org/officeDocument/2006/relationships/notesSlide" Target="/ppt/notesSlides/notesSlide9.xml" Id="R59cda2445a124f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3e0d2338348f5" /><Relationship Type="http://schemas.openxmlformats.org/officeDocument/2006/relationships/notesSlide" Target="/ppt/notesSlides/notesSlide10.xml" Id="R0a6f158e47074f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B8C50-E8D6-42C1-8EC4-2B9C4D97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75287-2456-494E-A968-85938C1B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927D6-9E6D-4A1B-A31E-48C689F5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FD4FA-D269-4A77-A337-74D281F5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df6ebb31a44a5"/>
          <a:srcRect xmlns:a="http://schemas.openxmlformats.org/drawingml/2006/main" l="18733" t="0" r="187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609600"/>
            <a:ext cx="4762500" cy="42862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1C97A-DC55-4040-8EBA-8A05C8B0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AI 探究式教学助手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970B9-BB1F-4B76-A8CA-C0646F70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InquiryTeachingPythonService 成果展示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07389-5BDA-404C-A112-3ACD9A4E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当前成果 · 项目特点 · 技术架构 · 未来方向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42CE5-EBAE-41F8-84F9-C4E8249E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教师在环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D237B-F575-437F-80B9-AEE383E7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719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阶段化流程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83FF2-A42C-4263-9FDD-4664FF98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71950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智能协同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6DB0C-D87E-44CD-84A9-1F20B532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1029E-23EF-414E-8247-8048CD8B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ED4C0-32E4-4971-BC4A-B4DF53E2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5145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063488-69CE-4CC1-96FC-545CF9B9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4A25C-59DE-454C-AAB6-195C726E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7942D-C446-467A-9EEB-272A62CF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EAC50-4338-4677-BB67-33831987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e3a547241438b"/>
          <a:srcRect xmlns:a="http://schemas.openxmlformats.org/drawingml/2006/main" l="0" t="150" r="0" b="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742950"/>
            <a:ext cx="3429000" cy="1924050"/>
          </a:xfrm>
          <a:prstGeom xmlns:a="http://schemas.openxmlformats.org/drawingml/2006/main" prst="roundRect">
            <a:avLst>
              <a:gd name="adj" fmla="val 59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6BBEB-92BA-443C-BDAF-7745CFB4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CHAPTER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8B304-D89E-4351-8ABF-853626A4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EA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D959C-E95E-43BE-AA86-CE2B7AA3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项目背景与目标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6832-7E71-4CB1-9390-BEEA44CB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从教师备课痛点出发，构建可持续打磨的探究式教学助手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B04B2-C362-4AEC-8DB3-F7D1F576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3238500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D5AEB-77B1-4BDF-B2AF-9537B55E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D6817-7493-4D2B-BB55-493824E3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项目定位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E1561-4199-449D-AD0B-972820C5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2571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面向中小学教师，围绕真实课堂探究活动，辅助完成教学设计、课堂实施与迭代优化。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5FD14-F54F-4E18-B7DC-16815ED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29527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9C3E3-C30C-42B0-A2A5-6105B77B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DDB22-E456-4B9E-8D3B-DF040D08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96A27-FBFC-41D1-8B76-13DC55A7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098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服务对象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5D5E7-F2F4-4413-8B77-C6876D7E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81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一线教师与课堂探究活动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D67FF-F598-474C-A8B6-317E3E4B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0300"/>
            <a:ext cx="29527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8BD4F-E690-492B-B571-75B43C6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B1502-E29F-43F7-8861-4EA947E6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289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42C5C-AD0E-4CBA-9C81-C93F9112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主要目标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9E8EB9-D9C9-47B5-A03A-E9452BE4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辅助完成教学设计与迭代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54690C-EBB3-4869-B7A6-B752EBCF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29050"/>
            <a:ext cx="29527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A833FF-4D1D-4E5A-84F5-01E3A968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40F4CF-52EB-4237-BB03-54432822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576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B7E4AE-F13B-4CAD-9284-132CFCA9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输出形式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ECEB4C-0F27-4DF1-B5DB-7A6AA853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10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对话、草稿、导出资源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B18514-E66E-4D81-BF5C-C82E659F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29050"/>
            <a:ext cx="29527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EA1149-FC7B-4B8B-B7BA-3B328569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81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EA99C2-8DD2-4F7E-9AA5-12C5BC43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576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23DA7E-AC1E-452A-B20C-3D116614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B2E75D-78B9-43AC-8A52-A422DE4B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10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提升设计效率与探究质量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AA8CF5-0E46-404C-BB5C-ED5CD3DD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691E14-6CF2-4F38-8F3B-A33DBFB7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226BA2-5E29-42EA-AE79-B9875BD9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60371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E7BDD3-FCB0-4653-942A-BD2ADFC2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E3321-8DB8-421C-8F1F-AFB8DE68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2B524-5DFE-4A20-8763-E6FFA581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98265-BBE9-4000-965E-DB84DF9C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55B17-6415-4D66-80CE-380AF2CA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AI FOR INQUIRY TEACHING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47CCF-0AF2-412A-98DD-74955271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E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66128-0837-47CD-B739-8766614E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七阶段探究式教学流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BAC9E-0C81-4AE4-886A-22795CD0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以阶段推进保证教学方案逐步成形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8C9B6-65DD-4597-AF46-83B1F7A3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AEF"/>
          </a:solidFill>
          <a:ln xmlns:a="http://schemas.openxmlformats.org/drawingml/2006/main" w="13335">
            <a:solidFill>
              <a:srgbClr val="A9EA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5F2CF-BB1E-4332-B937-1972D4DF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导入情境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54EEF-A6C8-46C6-A784-41461B04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671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A56BD-199E-476A-AB30-FC94BBE6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6FF"/>
          </a:solidFill>
          <a:ln xmlns:a="http://schemas.openxmlformats.org/drawingml/2006/main" w="13335">
            <a:solidFill>
              <a:srgbClr val="A9EA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E5144-949B-425E-BF19-F67BE045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386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提出问题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6C26F-7148-4EAC-8B09-3D0DCD2B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671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23D6B-2B43-4205-9233-CA734EAA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289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AEF"/>
          </a:solidFill>
          <a:ln xmlns:a="http://schemas.openxmlformats.org/drawingml/2006/main" w="13335">
            <a:solidFill>
              <a:srgbClr val="A9EA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09C56-8115-47F8-9DF5-98F4E857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386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猜想假设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A9D31-00DA-4C74-98C1-9B5ADDBA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671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6038F-7185-4A94-9E55-D42A07C1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289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6FF"/>
          </a:solidFill>
          <a:ln xmlns:a="http://schemas.openxmlformats.org/drawingml/2006/main" w="13335">
            <a:solidFill>
              <a:srgbClr val="A9EA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58165-8BA3-4CBE-BBA0-71AB9555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386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设计方案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12F12-64AE-4070-8267-78D8B6F1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59021-ED83-40DC-8B29-DE79248C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AEF"/>
          </a:solidFill>
          <a:ln xmlns:a="http://schemas.openxmlformats.org/drawingml/2006/main" w="13335">
            <a:solidFill>
              <a:srgbClr val="A9EA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06DAA5-5364-4062-AD9E-7FCFC2CD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386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观察实验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36639-90AF-4909-89FE-32111A83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671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BFA195-4605-4076-B488-53B999F2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6FF"/>
          </a:solidFill>
          <a:ln xmlns:a="http://schemas.openxmlformats.org/drawingml/2006/main" w="13335">
            <a:solidFill>
              <a:srgbClr val="A9EA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E33242-55FF-4488-998B-6BDE8A4F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386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表达交流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4F92CE-7467-4907-95D4-6F056C44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F6846-6ABD-47C2-9B8B-3D60B80A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289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AEF"/>
          </a:solidFill>
          <a:ln xmlns:a="http://schemas.openxmlformats.org/drawingml/2006/main" w="13335">
            <a:solidFill>
              <a:srgbClr val="A9EA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AE1C9B-E73D-4CBD-B668-34F1465C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386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总结评价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25EFD2-7767-4EAE-A483-BB7B91D6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流程价值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20906D-1595-4DBF-94D4-5ADF72E3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95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9B207B-8BE5-4BB3-AA64-6A9D1E24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101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把一次开放对话转化为可推进的教学过程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C2B31F-B627-4A0D-A74D-158CB594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1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97C2AA-3436-4A17-86AB-14988890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340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每个阶段保留草案，教师可以确认、回退和继续打磨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2BFA5D-D94E-4BAD-9E52-6C81BAF0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4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743847-E2FD-4299-BD03-A52165E4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57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适合科学探究、自然观察和跨学科项目学习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502616-7D33-4615-944B-F7249F4B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88C623-B10B-4914-8C1B-F7A6051C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C0C5FE-D499-4752-AD37-D614A60E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4813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14C97-9B1D-4769-BA4F-162402B0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C4B7F-8058-4758-ABE1-A522713F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A85FE-C94E-4886-837A-6D6CC60F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4F8C0-6909-4E8C-B074-7B0203E4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DF787-F3DE-45C2-A774-FACC5A8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AI FOR INQUIRY TEACHING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A8B48-6AE4-421B-8687-1AC44C0C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E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F3704-BCAC-43E7-BB59-7A69A3F1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教师在环机制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97829-88B4-4E02-81D5-64962C2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教师掌握关键判断，AI 负责整理、建议和生成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55420-4E14-4B3B-B9EF-2012B18D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28600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B4755-AEE6-4C85-8397-B54CD78C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5DC3B-B143-4C64-AFAC-3F259411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DFF14-3E57-4D2C-A860-A9DF6D5F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908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设定目标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7EEC7-D71C-48D7-802E-5A1AE4B2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623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主题、年级、场地、课时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8403F-9966-4467-A58E-C5F3B73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81250"/>
            <a:ext cx="228600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1947A-EF60-4981-B601-D85FF023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AD0E1-FBC0-40AC-945B-B33361F2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098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BDAFA-8623-466E-A424-EA18BF42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908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选择专家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8F94D-E751-4BAC-8974-F50FFAE3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623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按问题选择合适顾问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42FBC-356E-4772-BB23-8081DB45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28600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8D093F-6CDD-4BE8-B720-8D54CCF6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D82A8-D501-4B07-B908-E7A825D5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5326B-0363-4CD9-B452-25582444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审阅草案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34BD6-52D6-49AC-9307-3628FC4B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接受、拒绝或继续追问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1A808-7E95-405F-819D-147EC1A5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28600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F6F335-1072-4EAF-AF09-D7C20FA7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01AF90-8F37-46C5-A55B-1A98ED63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098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17F37-7B16-4CC4-86EF-66FA7B8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5908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确认成果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4F4271-F1AC-4A40-88C0-77D1F639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1623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导出并用于真实课堂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36BFD2-A655-4C75-9312-CF751DEC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这套机制让教师专业判断保留在流程中心。AI 不直接替教师拍板，而是把资料、建议和草案整理到更容易判断的位置。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98DCC6-837C-4903-8B80-7DFB43BC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9D6512-A823-459F-A50B-03BC774D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C071C8-CB85-4F53-AFC7-4F7B2250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98043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54308D-1484-4273-8D62-D4830102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C5B67-EF1E-4752-9B74-943ABEAC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36704-1B41-433A-BA5D-A8189A9C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29D98-B018-48C1-A9D5-39CFB522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89236-DDAF-496D-8157-30BB4312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AI FOR INQUIRY TEACHING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C4CB2-F933-4DE7-A598-A44F983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E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2BEF8-9BEA-49FF-BDFA-7AF0E9ED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主导师与专家 Agent 协同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7315E-39A9-434B-BCC4-2B4F73AC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主导师推进全局，领域专家处理本轮专业问题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BB8C4-6704-4085-87DD-19C53751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29527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AB016-38DD-46F2-ABE2-06BB747E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1A2CB-7982-48EA-B6CF-8C9C1B58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098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60887-30CE-46E3-BAAA-1D9BC430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908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主导师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1C23A-F0B5-4B28-BFA1-31307248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流程推进、上下文维护、草案生成、专家建议整合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0E285-405A-4246-8CFA-3C0777A4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428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1EBFA-9235-4DEF-B5F3-90C28B0E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240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639F8-CB00-46B7-A37E-81254F11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050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7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昆虫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51B42-7222-4B71-A32F-DF2DE074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479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本轮建议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C149E-77DA-44D9-814C-AA32BCFF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DF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9820D-7988-4F2B-BB2F-7333797C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95450"/>
            <a:ext cx="1428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0ABF0-956D-4E58-9984-56D4797B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CBFC98-9913-4F39-8857-182409BA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4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自然生态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8393C-D22E-4337-8B63-7789DED1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479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本轮建议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8B3F4-9E56-417B-B056-85223826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43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DF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636FBA-550F-4DBE-A36D-BA748862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1428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2C912-149B-42DC-9B7D-D1526BB3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240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1AACE7-8B6D-496D-9C67-F4BB1E74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050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4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数学数据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9FFA8-AFC9-48ED-AE4B-F700C791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本轮建议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45C20-97B8-41D9-8F5A-B6E0CEC8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4312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DF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9131CD-D434-4EFD-92C7-777F3D53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1428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D88F57-8A42-4D1D-82D9-FF60CCBF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240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1999AB-152C-4DF5-8DB9-DD125D26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9050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4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安全伦理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8C20D0-03AA-4EBC-84C3-889CCBE8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479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本轮建议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F34391-80A5-41C4-B49E-C9644937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43125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DF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CA2C6B-66B8-47E0-B656-625FCD90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76750"/>
            <a:ext cx="1428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C469A6-B589-4005-B29B-5FBA77A7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053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774D6B-5E53-4068-8640-370121CB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863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4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物理探究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AC35C8-5CC6-4487-AF7A-31704488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29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本轮建议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7575F1-8E8C-4F06-A5E7-A53245AE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244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DF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C1F124-02AD-4439-9AFC-B403CCA6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1428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A3E619-13B8-490C-82C7-47835951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053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A31494-4766-4B62-BF83-3F441009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863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4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课程知识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70D377-4497-4BCB-9173-E0E60398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29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RAG 支撑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4FDBC9-98C2-444A-9B61-D50565CF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2442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DF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5C2A65-6F03-4B48-903D-51495085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340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专家回答后自动回到主导师，避免多角色同时改写最终教案。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86DB12-CD8C-4094-A129-0AD5B1CE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3B82F9-F10A-46F9-8C68-325F735D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768804-EB26-4DD5-BEB7-5B5D9BBF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5127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03BF11-B122-4771-9C04-6628087A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E455E-FCDA-45CF-AC96-1070C446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58470-6D6E-4129-A0DD-5B90C2E9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78C5C-A467-4A6B-AFA4-A604684E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A76A7-B554-4A78-AD3A-9B70D71F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AI FOR INQUIRY TEACHING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EB67C-BCD9-4DD3-A592-52FB7DD5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E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E0DED-7146-4E0B-B34B-AA46605B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系统架构与核心能力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4AFD3-F7C8-4260-B031-CC83AA34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FastAPI、Vue3、SQLite 与 SSE 支撑实时教学工作台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61BBB-2A39-418F-B559-4819C798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29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3BBD7-B650-4DEB-B87F-8E749454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33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7C0E0-BC0A-41F7-915D-BE3C59E2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C05A3-FB56-4C05-8803-75218A64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651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前端工作台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B91C8-19CD-40E1-AC65-AE49DD40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67627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Vue3 / 聊天 / 草稿 / 导出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6AA82-9767-4432-BBA3-98FCAE0A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1927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对话交互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8E463-C3A3-4BA8-A9B4-B96D2421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1927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内容草稿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E6CBB-F44C-4195-B445-8F4BD831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1927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一键导出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C1AD9-ED35-4EEE-BAAD-84E7639D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7429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CFFFC-9D3D-48DD-9DD4-E3A35236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A009D-5740-42DD-95DE-201C09A7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9BE6C-892D-42B5-B6C0-6927ADC9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651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服务编排层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3BB2DB-1BFF-45E7-9072-0AAB988D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67627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FastAPI / SSE / 流程管理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85492-29F6-4262-90D5-8536B264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987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API 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B7A36-4EC7-4E3F-ADE3-C6EAE9AC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987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SSE 流式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AA251-5D66-49CC-B5E4-74E33AA4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987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流程推进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8205D5-F352-4AED-B512-73990330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7429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FF5EC7-2901-410B-92B1-B8DC159E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CBEE27-4FF7-4D97-9C23-9618E1F6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6FBFB0-1487-4AB9-A300-87A26378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651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Agent 能力层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BAD22-61D4-4987-B079-8F591E75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67627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主导师 / 专家 / RAG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AE37F7-2EAB-424D-93B3-EDD925AE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0047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主导师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8E09BC-6DA1-4151-8E0B-5F66DE94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0047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阶段专家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C571F0-BB9D-43B8-9620-F31B3683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0047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知识增强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7C4FC-38B0-4774-A38A-D5D89D8A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7429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3F0129-F32A-4891-9C35-89540D63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86C187-54BE-44E4-A945-897EC5E8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800A83-90EA-4B92-B8FC-9B23D91E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651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数据与存储层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0F6201-5EB5-41FD-BF81-4B23D860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05400"/>
            <a:ext cx="67627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SQLite / 会话 / 草稿 / 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2FE2AB-D259-4C01-BFBD-F1A3C397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9107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会话数据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2049F0-9BB4-4EF9-BD27-57362C61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9107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草稿数据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D30DDA-21E8-445B-A1F8-BC25B897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知识片段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240cfaff34485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1695450"/>
            <a:ext cx="2457450" cy="2457450"/>
          </a:xfrm>
          <a:prstGeom xmlns:a="http://schemas.openxmlformats.org/drawingml/2006/main" prst="ellipse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41A551-518E-4D65-97BA-40B4C823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910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技术目标：让教师在一个工作台里完成咨询、生成、审阅和沉淀。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113979-519D-4358-A0BB-54B80CC0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D6F2BF-EC13-48AA-B35C-379149E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E5612D-E887-4727-93D4-BDB00832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39389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BD5E57-6D78-4920-8542-0F382D0C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C08B4-F7A2-41FB-920D-333169D8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9DC0B-E2BE-4E9D-829A-9EEC11AE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8C7C2-8CB9-4AE7-A967-81C50D1B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A182D-B478-409D-A6F3-FA7C449E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AI FOR INQUIRY TEACHING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1CC8D-A11E-4365-8B30-F2F4B005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E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BBC23-B4A3-4248-B944-35DE911A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会话、草稿、回滚与导出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0FD1A-CFE7-4DAE-AE6E-0FE30314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当前成果已经覆盖教师从讨论到成稿的主要动作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CC765-ED90-4337-A872-288DF58E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2038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21F57-B1C8-4C17-B1EB-B7A0F166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2FD91-1A8B-4702-AD60-BB1FE940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289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CF092-0DA4-44A6-9A0C-7143C9EA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0985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创建会话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EF39F-3235-4942-8968-49F26DA1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813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围绕主题形成项目空间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287ED-5EF6-4391-AF8B-B51A72A2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2038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02FF5-5BCF-4DE7-9DD6-F22CCE01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7A74C-762E-457C-9B97-8BCAAA4B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40478-5066-4E6F-95E4-48DCD365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上传资料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3640C-5B5B-492F-A35F-106E7C35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813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补充校本材料与参考文本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605A7F-0B84-4B57-A80D-F52A7200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2038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CB025-9FBA-44E9-BC35-B9D5D8A4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9FE2AA-909A-44D7-A7EE-0283E3E3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289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2A06E-D66F-4490-89F0-341ABA8F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985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生成草稿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29E07-A3DA-4E53-A5A9-07FC2BBB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主导师输出阶段化内容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9582E-B049-4EFB-A4EA-B7668DBC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2038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288425-D695-45D8-9D6D-93423E7D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24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A8D3D2-258E-47EC-AB24-35CC8544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005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6CF733-945D-4F65-9AC8-752C628B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审阅修改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734F13-0FFB-4E80-9F42-1F1B0CBF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530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教师确认后继续推进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2926E9-3930-4500-B790-F0D179B7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71950"/>
            <a:ext cx="2038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B0E5A8-AC0E-4AEC-A5B3-D0067030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24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91E346-2CF4-4C3E-8F39-49BEACEA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868D7C-66AD-487B-B33A-868257D3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8150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回滚导出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A4BEEB-E3A2-479F-80A2-98E19B4A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530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保留可控迭代和成果沉淀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3A21EF-7655-4E22-9C6C-7BA86CB1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52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11C744-B38F-4D84-9BBA-E2D7552C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C7A8E4-BDAC-49E7-9D07-6025A7F7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623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CA9D5C-A282-4164-AA05-E1625F92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24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32C929-530C-428D-B14C-84287819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626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这些能力让平台从聊天工具变成可持续打磨的教学创作环境。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374710-2F77-468E-833A-B5943AC5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2B5E33-10EB-48F6-B4A0-3B25F3A4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57F383-31CD-40DF-9014-7F91986C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01993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E06ED5-9AB1-4E60-88AF-0FB98F32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4F5CA-9F5A-4CF1-A657-D1CA1B38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44BED-2A05-41C0-8336-8AD12F0D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A3902-3EC4-4EA8-B406-FE20EADB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5CA66-DA87-42E3-A967-A50153E9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AI FOR INQUIRY TEACHING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C8F75-19F9-4C84-8BB9-BC55B222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E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0C5C3-B100-4FC4-A5C8-F991C6FB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课程知识库与 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3FCA7-3EEC-4AE0-8544-10A87938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课标文件可上传、授权、检索和审计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ABBAD-10DF-4A3D-9E75-BEFBF39A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575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DC31F-C4F2-4D18-B72F-9F6F92A4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0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8E5F0-CCB1-4270-B549-132BAA3E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B1ED6-9A96-4186-B0C0-B4AD8595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资料入口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7ADB6-9851-4424-8477-29934692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2190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管理员上传 PDF、DOCX、TXT、MD。系统提取正文、切分片段，并写入课程知识库。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56EAE-5395-4901-BF8E-A5F25913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28575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41273-3FAA-4572-A2C1-EB462DDA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61E82-056C-4FDD-89D2-10C45C52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6F317-9683-4B4B-B5BF-5E302352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622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权限控制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61599B-12D2-4A0A-A5D7-F4884D56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33700"/>
            <a:ext cx="2190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新文件默认未授权。管理员按专家配置可查询来源，下一轮咨询立即生效。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0CFD0-A6C3-49B3-AEE0-CAB6D5E9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28575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3E6E0-08D8-4ED4-9792-3EA6479F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0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3C249-298D-4595-9AF0-9F22C13E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AE24F1-26D6-4AFE-A9D8-CA4BAB7A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混合检索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91AD1-5C80-41EF-B416-FF99089D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33700"/>
            <a:ext cx="2190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BM25 与本地向量检索结合。向量不可用时可退回 BM25，保证基础可用。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429883-F502-4DA3-978D-A23B719C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检索记录会保存专家 ID、授权来源、命中片段和评分，便于教学内容追踪。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89B021-9C74-4E47-B466-9B02083C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F4955-CFB2-4691-A65A-D79C0797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0DE026-9BFE-49F0-8308-30B86113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910984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28057A-565B-45B9-9DA7-9D70059F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6369B-3E7A-4C2B-A230-DDF82FB6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C833F-7A19-456F-84C4-634C8B22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01013-8942-4162-9FF3-A19B55DE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edd236db544ca"/>
          <a:srcRect xmlns:a="http://schemas.openxmlformats.org/drawingml/2006/main" l="0" t="150" r="0" b="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742950"/>
            <a:ext cx="3429000" cy="1924050"/>
          </a:xfrm>
          <a:prstGeom xmlns:a="http://schemas.openxmlformats.org/drawingml/2006/main" prst="roundRect">
            <a:avLst>
              <a:gd name="adj" fmla="val 59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3D9FB-7055-4C9F-BA95-C86D6F5C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AI FOR INQUIRY TEACHING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5B1AB-7D22-434F-81D0-26BA3B96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EA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F1C84-47C8-4148-A1D9-6587DF23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当前完成情况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FBFBD-23CF-4052-ACB1-BB322464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核心闭环已经形成，下一步重点转向试点化和后台化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51E68-8BB2-4C51-B4CF-EFEEE924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45339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51245-42BC-4230-9DC7-F1E94DA5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8CDFA-EF4D-436C-94DF-98427043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95D46-4A06-4613-82B6-351B41B8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526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登录与会话隔离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EAC5C-DA4D-4641-A3B0-73A54FF1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95550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0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教师可独立创建和管理会话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EDBEF-C407-47C0-BFD1-9B88CE48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43100"/>
            <a:ext cx="45339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455E9-8F70-4E6C-8FF4-E14F6ED2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95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A378E-DA6F-49BF-91A8-B34A60C2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631F5-ABB7-4DF7-8D79-8D181209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526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主导师与专家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23FDC-CF7B-4C19-AE0E-48A9173D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95550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0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支持显式选择专家进行本轮咨询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EC6042-D5AF-414B-BE75-9AEB83F6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5339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56CF5-08FC-4AAF-8AE0-2F43AD2F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00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F900CD-3F4C-4B63-8C24-025DE77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380E18-DBF0-4F4D-9CA4-48DF3A0D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课标 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FBEFE-DCE2-4BC5-B5F0-082833F1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0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支持文件上传、权限、检索和审计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398F34-50AF-451B-9FE9-A11E0A9D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45339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ECEE26-C85F-47B5-8A1C-8B2B4627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00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140107-DEAB-4227-9885-14F80D01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2020A-BD0F-4F77-9F82-6BC9C953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草案工作台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AC6989-E5A7-4D0C-AF7B-D5A33F18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0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支持编辑、审阅、保存和导出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F39237-75D4-4DC4-A6DB-DFACD910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45339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F64752-6375-45D3-92C6-493057FF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05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194EAB-A9E9-4FF4-AD04-5920A5AD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B2266-5DE7-4230-924A-B485F143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后台管理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D718C0-847C-4544-AEF0-688ABC02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05350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0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需要组织、项目、数据和日志管理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9895A1-4B9C-4117-83F7-21911A06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52900"/>
            <a:ext cx="45339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7FEB68-FC5B-4383-98C1-11BB359B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305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B6747E-D6FC-4293-AF95-7C2ECBA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EC529E-E2D7-4D8B-A866-A9000932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课堂数据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D98C6B-1B89-4887-BF5D-890D354C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0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需要学生观察记录和长期项目档案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9D3730-5AA6-411E-9B1B-89DD2862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F676E2-3B15-4AD1-B92E-38ED64C9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FDA843-B5F7-4022-8CD9-D720ACF2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37169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1CE28-0D04-48E3-A667-A8B35FE7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22683-52A9-44A6-A4DD-32526E92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8D76B-8016-4132-9DF7-E13BB8BF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93471-8534-4D6A-9736-B71E57B9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1415B-7A29-4590-93FF-72BEA9D4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AI FOR INQUIRY TEACHING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E2B5B-1CC6-445E-A8A4-5183350A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E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D92D4-29A0-44E7-AFFE-6B3BD6F6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未来路线图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DE744-1F47-46C8-BD23-95489403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从备课助手走向自然探究项目平台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0526A-DFF3-4FF4-93F6-E3366F71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4287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AEF"/>
          </a:solidFill>
          <a:ln xmlns:a="http://schemas.openxmlformats.org/drawingml/2006/main" w="13335">
            <a:solidFill>
              <a:srgbClr val="A9EA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近期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CB061-A1C2-4BFA-AA5F-5E2D331D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7813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F6EFE-A420-4D06-9E74-8329A662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19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94DFA-0768-4DDA-BF75-E3CF32ED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955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D62C3-E5FB-40F4-946A-2D5F3DDE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765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打磨标杆场景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41CE2-28D9-4941-9356-75B10F98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2114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昆虫生命周期观察、课程包样例、关键接口并发测试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094A2-E232-4083-A36A-5663A1D9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71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8B06F-BF19-440D-A651-D91B52C4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6FF"/>
          </a:solidFill>
          <a:ln xmlns:a="http://schemas.openxmlformats.org/drawingml/2006/main" w="13335">
            <a:solidFill>
              <a:srgbClr val="A9EA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AC721-6836-4D08-9046-22AD7A62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27813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EB276-4CB0-4980-BFE6-34BC3A08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CEFC0-EBB5-4ECD-A8E8-E4BC61F5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53CDC-0EF0-4D32-AC86-9E46483B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后台数据管理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06D3E-C8DD-4A92-B2B3-15009BD9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48000"/>
            <a:ext cx="2114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用户、学校、班级、项目、知识库、日志和权限管理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0A7A8-CA69-496E-A556-E825A8EA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71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50C5E-87D7-45DD-B6C1-DC088F0E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287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FF4"/>
          </a:solidFill>
          <a:ln xmlns:a="http://schemas.openxmlformats.org/drawingml/2006/main" w="13335">
            <a:solidFill>
              <a:srgbClr val="A9EA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长期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F81B2-7C19-4BFB-A65A-3A402694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27813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A7C42E-F9BD-4AF2-B266-53036D2D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19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19969-9CFB-46C6-B792-2670106E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5938EF-385D-4B79-852D-F0CD1FEE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课堂数据闭环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765A3-490C-4A5C-A389-04C08F83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114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学生记录、图片、传感器、成长档案和区域项目管理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B740FF-1FD8-493F-A9F1-3043B114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0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并发测试重点：多人登录、SSE 流式响应、文件上传、RAG 权限、索引重建和数据库锁冲突。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8B012B-CEA9-4334-9F8A-43F1F382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81F1EB-8CE1-4004-ACD1-A96CBF3D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52EFED-DB82-4D2B-84EC-FF98EC3D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80207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2026-09-08T04:04:42.4120000Z</dcterms:created>
  <dcterms:modified xsi:type="dcterms:W3CDTF">2026-09-08T04:04:42.4120000Z</dcterms:modified>
</coreProperties>
</file>