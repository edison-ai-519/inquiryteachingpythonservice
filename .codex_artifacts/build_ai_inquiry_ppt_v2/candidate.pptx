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4998d1f28642fc" /><Relationship Type="http://schemas.openxmlformats.org/officeDocument/2006/relationships/extended-properties" Target="/docProps/app.xml" Id="Rf235a01c2c69434e" /><Relationship Type="http://schemas.openxmlformats.org/officeDocument/2006/relationships/officeDocument" Target="/ppt/presentation.xml" Id="Rfd3e14af29a2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2b74ea19214153"/>
  </p:sldMasterIdLst>
  <p:notesMasterIdLst>
    <p:notesMasterId xmlns:r="http://schemas.openxmlformats.org/officeDocument/2006/relationships" r:id="Rbe320639f1c84ff0"/>
  </p:notesMasterIdLst>
  <p:sldIdLst>
    <p:sldId xmlns:r="http://schemas.openxmlformats.org/officeDocument/2006/relationships" id="256" r:id="Rc19d1e524db44bcf"/>
    <p:sldId xmlns:r="http://schemas.openxmlformats.org/officeDocument/2006/relationships" id="257" r:id="Rb6df99e181014a20"/>
    <p:sldId xmlns:r="http://schemas.openxmlformats.org/officeDocument/2006/relationships" id="258" r:id="R0eb081f8113641ef"/>
    <p:sldId xmlns:r="http://schemas.openxmlformats.org/officeDocument/2006/relationships" id="259" r:id="R65614ca82cf74922"/>
    <p:sldId xmlns:r="http://schemas.openxmlformats.org/officeDocument/2006/relationships" id="260" r:id="R4b179796d5134984"/>
    <p:sldId xmlns:r="http://schemas.openxmlformats.org/officeDocument/2006/relationships" id="261" r:id="Rb132b4703c7c46ad"/>
    <p:sldId xmlns:r="http://schemas.openxmlformats.org/officeDocument/2006/relationships" id="262" r:id="Rb0635594af5f480d"/>
    <p:sldId xmlns:r="http://schemas.openxmlformats.org/officeDocument/2006/relationships" id="263" r:id="R00a491a459bb4858"/>
    <p:sldId xmlns:r="http://schemas.openxmlformats.org/officeDocument/2006/relationships" id="264" r:id="Rd8b5b9b90abc4b8d"/>
    <p:sldId xmlns:r="http://schemas.openxmlformats.org/officeDocument/2006/relationships" id="265" r:id="R6ac079bcf4de4b76"/>
    <p:sldId xmlns:r="http://schemas.openxmlformats.org/officeDocument/2006/relationships" id="266" r:id="R5916077a721b4e5e"/>
    <p:sldId xmlns:r="http://schemas.openxmlformats.org/officeDocument/2006/relationships" id="267" r:id="R2babe7148f9043af"/>
    <p:sldId xmlns:r="http://schemas.openxmlformats.org/officeDocument/2006/relationships" id="268" r:id="R5b788e9dd25044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d776168a90425b" /><Relationship Type="http://schemas.openxmlformats.org/officeDocument/2006/relationships/slideMaster" Target="/ppt/slideMasters/slideMaster1.xml" Id="R892b74ea19214153" /><Relationship Type="http://schemas.openxmlformats.org/officeDocument/2006/relationships/notesMaster" Target="/ppt/notesMasters/notesMaster1.xml" Id="Rbe320639f1c84ff0" /><Relationship Type="http://schemas.openxmlformats.org/officeDocument/2006/relationships/presProps" Target="/ppt/presProps.xml" Id="R6a54cf0340bd44ee" /><Relationship Type="http://schemas.openxmlformats.org/officeDocument/2006/relationships/tableStyles" Target="/ppt/tableStyles.xml" Id="R344a41c5c3dc4743" /><Relationship Type="http://schemas.openxmlformats.org/officeDocument/2006/relationships/slide" Target="/ppt/slides/slide1.xml" Id="Rc19d1e524db44bcf" /><Relationship Type="http://schemas.openxmlformats.org/officeDocument/2006/relationships/slide" Target="/ppt/slides/slide2.xml" Id="Rb6df99e181014a20" /><Relationship Type="http://schemas.openxmlformats.org/officeDocument/2006/relationships/slide" Target="/ppt/slides/slide3.xml" Id="R0eb081f8113641ef" /><Relationship Type="http://schemas.openxmlformats.org/officeDocument/2006/relationships/slide" Target="/ppt/slides/slide4.xml" Id="R65614ca82cf74922" /><Relationship Type="http://schemas.openxmlformats.org/officeDocument/2006/relationships/slide" Target="/ppt/slides/slide5.xml" Id="R4b179796d5134984" /><Relationship Type="http://schemas.openxmlformats.org/officeDocument/2006/relationships/slide" Target="/ppt/slides/slide6.xml" Id="Rb132b4703c7c46ad" /><Relationship Type="http://schemas.openxmlformats.org/officeDocument/2006/relationships/slide" Target="/ppt/slides/slide7.xml" Id="Rb0635594af5f480d" /><Relationship Type="http://schemas.openxmlformats.org/officeDocument/2006/relationships/slide" Target="/ppt/slides/slide8.xml" Id="R00a491a459bb4858" /><Relationship Type="http://schemas.openxmlformats.org/officeDocument/2006/relationships/slide" Target="/ppt/slides/slide9.xml" Id="Rd8b5b9b90abc4b8d" /><Relationship Type="http://schemas.openxmlformats.org/officeDocument/2006/relationships/slide" Target="/ppt/slides/slide10.xml" Id="R6ac079bcf4de4b76" /><Relationship Type="http://schemas.openxmlformats.org/officeDocument/2006/relationships/slide" Target="/ppt/slides/slide11.xml" Id="R5916077a721b4e5e" /><Relationship Type="http://schemas.openxmlformats.org/officeDocument/2006/relationships/slide" Target="/ppt/slides/slide12.xml" Id="R2babe7148f9043af" /><Relationship Type="http://schemas.openxmlformats.org/officeDocument/2006/relationships/slide" Target="/ppt/slides/slide13.xml" Id="R5b788e9dd25044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1b5f2ffa0245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193e3b7a994b80" /><Relationship Type="http://schemas.openxmlformats.org/officeDocument/2006/relationships/notesMaster" Target="/ppt/notesMasters/notesMaster1.xml" Id="R0228017ede8b4c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9a7c27d07945b8" /><Relationship Type="http://schemas.openxmlformats.org/officeDocument/2006/relationships/notesMaster" Target="/ppt/notesMasters/notesMaster1.xml" Id="R9ae5541b802740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c3a92073374964" /><Relationship Type="http://schemas.openxmlformats.org/officeDocument/2006/relationships/notesMaster" Target="/ppt/notesMasters/notesMaster1.xml" Id="R1c120a65347d4d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12a2424d744651" /><Relationship Type="http://schemas.openxmlformats.org/officeDocument/2006/relationships/notesMaster" Target="/ppt/notesMasters/notesMaster1.xml" Id="R60b832979da84a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d2eea22df44805" /><Relationship Type="http://schemas.openxmlformats.org/officeDocument/2006/relationships/notesMaster" Target="/ppt/notesMasters/notesMaster1.xml" Id="R59d48f38d43542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dd1ca520ca41d8" /><Relationship Type="http://schemas.openxmlformats.org/officeDocument/2006/relationships/notesMaster" Target="/ppt/notesMasters/notesMaster1.xml" Id="R213506696a524f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43e0499b0c4dec" /><Relationship Type="http://schemas.openxmlformats.org/officeDocument/2006/relationships/notesMaster" Target="/ppt/notesMasters/notesMaster1.xml" Id="Rdf920ce824e643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dce1780da84267" /><Relationship Type="http://schemas.openxmlformats.org/officeDocument/2006/relationships/notesMaster" Target="/ppt/notesMasters/notesMaster1.xml" Id="R6b6cdef537274c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d188b1305c4e22" /><Relationship Type="http://schemas.openxmlformats.org/officeDocument/2006/relationships/notesMaster" Target="/ppt/notesMasters/notesMaster1.xml" Id="R4f2481a8c5934c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73f5c50b2343ee" /><Relationship Type="http://schemas.openxmlformats.org/officeDocument/2006/relationships/notesMaster" Target="/ppt/notesMasters/notesMaster1.xml" Id="R6c2adddd84954f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7d75694a854cd6" /><Relationship Type="http://schemas.openxmlformats.org/officeDocument/2006/relationships/notesMaster" Target="/ppt/notesMasters/notesMaster1.xml" Id="R614a403ea87347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eb4f5369214daa" /><Relationship Type="http://schemas.openxmlformats.org/officeDocument/2006/relationships/notesMaster" Target="/ppt/notesMasters/notesMaster1.xml" Id="R8472a7dc123a41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9824593d6e461e" /><Relationship Type="http://schemas.openxmlformats.org/officeDocument/2006/relationships/notesMaster" Target="/ppt/notesMasters/notesMaster1.xml" Id="Rca5826fac7fb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这个项目关注教师如何持续完成探究设计。AI参与问题梳理、阶段讨论、专业咨询和草案整理，教师保留教学判断。接下来用产品流程、实现关系和未来路线来说明当前成果。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用户提供的新版PPT设计要求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平台未来发展方向与测试规划.md §2—3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左侧是一种概念化的一次生成交互，并非对所有竞品的事实判断。真实教学设计中，教师会不断决定问题是否值得研究、方案是否可行、证据是否支持结论。本项目把这些持续决策放进工作流程。右侧是探究活动的一般动作示意，不等同于代码阶段名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用户提供的核心叙事与第2页要求</a:t>
            </a:r>
          </a:p>
          <a:p xmlns:a="http://schemas.openxmlformats.org/drawingml/2006/main">
            <a:r>
              <a:t>- 平台未来发展方向与测试规划.md §3.1—3.3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导师维持阶段化教学主流程，教师通过讨论完善想法，并在开启草案模式后按需生成或修订草案。会话资料会进入各类教学上下文；课程知识则仅由本轮显式选择且获授权的专家检索。专家回答进入共享历史，后续主导师可以利用这段上下文继续讨论；系统不会在专家回答后自动追加一段主导师总结。教师可修改与保存，并在需要时导出 Markdown 教案。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app/api/chat.py:373</a:t>
            </a:r>
          </a:p>
          <a:p xmlns:a="http://schemas.openxmlformats.org/drawingml/2006/main">
            <a:r>
              <a:t>- app/api/chat.py:487</a:t>
            </a:r>
          </a:p>
          <a:p xmlns:a="http://schemas.openxmlformats.org/drawingml/2006/main">
            <a:r>
              <a:t>- app/services/prompt_service.py</a:t>
            </a:r>
          </a:p>
          <a:p xmlns:a="http://schemas.openxmlformats.org/drawingml/2006/main">
            <a:r>
              <a:t>- app/api/sessions.py:311</a:t>
            </a:r>
          </a:p>
          <a:p xmlns:a="http://schemas.openxmlformats.org/drawingml/2006/main">
            <a:r>
              <a:t>- app/services/export_service.py</a:t>
            </a:r>
          </a:p>
          <a:p xmlns:a="http://schemas.openxmlformats.org/drawingml/2006/main">
            <a:r>
              <a:t>- PROJECT_STRUCTURE.md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七个名称直接来自 inquiry_7_stage 配置：观察起点、循疑问题、可能的猜想、实验设计、实验中的新问题、可能的结论、延伸与新问题。可以用昆虫观察作为讲述示例：先观察变化，再提出问题和预测，设计记录方法，处理新发现，形成有证据的解释。平台当前服务于教师设计这些活动，并不意味着学生记录平台已建成。每段有目标，但并非自动产出草案：教师需要开启草案模式后主动生成。下一步与回退是用户触发的工作流操作，不是学习质量自动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app/workflow/flows.py:132</a:t>
            </a:r>
          </a:p>
          <a:p xmlns:a="http://schemas.openxmlformats.org/drawingml/2006/main">
            <a:r>
              <a:t>- app/api/sessions.py:268</a:t>
            </a:r>
          </a:p>
          <a:p xmlns:a="http://schemas.openxmlformats.org/drawingml/2006/main">
            <a:r>
              <a:t>- app/api/sessions.py:386</a:t>
            </a:r>
          </a:p>
          <a:p xmlns:a="http://schemas.openxmlformats.org/drawingml/2006/main">
            <a:r>
              <a:t>- app/api/chat.py:487</a:t>
            </a:r>
          </a:p>
          <a:p xmlns:a="http://schemas.openxmlformats.org/drawingml/2006/main">
            <a:r>
              <a:t>- frontend/src/App.vue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在环是具体交互机制。教师选择是否咨询专家；已有草案的选区编辑会生成待审提案，教师可以接受或拒绝；教师主动推进阶段，也可以撤销最近聊天轮次或返回上一阶段。轮次撤销恢复相关草案并删除关联消息与检索记录；返回上阶段则撤销该阶段确认、清空定稿，保留草案与对话，两者不是完整历史版本恢复。首次草案生成可直接写入，并非所有生成都必须经过独立审批。教师仍可手工编辑并保存。这里的环表示教学设计决策，并不等于课堂实施数据已经自动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frontend/src/App.vue</a:t>
            </a:r>
          </a:p>
          <a:p xmlns:a="http://schemas.openxmlformats.org/drawingml/2006/main">
            <a:r>
              <a:t>- app/api/chat.py:539</a:t>
            </a:r>
          </a:p>
          <a:p xmlns:a="http://schemas.openxmlformats.org/drawingml/2006/main">
            <a:r>
              <a:t>- app/api/sessions.py:386</a:t>
            </a:r>
          </a:p>
          <a:p xmlns:a="http://schemas.openxmlformats.org/drawingml/2006/main">
            <a:r>
              <a:t>- app/services/draft_proposal_service.py:159</a:t>
            </a:r>
          </a:p>
          <a:p xmlns:a="http://schemas.openxmlformats.org/drawingml/2006/main">
            <a:r>
              <a:t>- app/services/draft_edit_service.py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当前协作方式是一个持续主导师加五个独立角色提示词专家，共用模型配置。教师显式传入 expert_id 发起单次咨询；主导师可以建议选择哪位专家，但系统没有自主选择并并行调度多个专家的实现。专家只回答当轮，不改动阶段或替教师批准草案，且回答后不自动追加主导师回复。专家信息进入共享历史，后续主导师沿原流程继续。右侧知识库是专业咨询的资源，不是第六个专家。图中连线表示职责与资源关系，不是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app/agents/config/agents.yaml</a:t>
            </a:r>
          </a:p>
          <a:p xmlns:a="http://schemas.openxmlformats.org/drawingml/2006/main">
            <a:r>
              <a:t>- app/agents/prompts/main_tutor.md</a:t>
            </a:r>
          </a:p>
          <a:p xmlns:a="http://schemas.openxmlformats.org/drawingml/2006/main">
            <a:r>
              <a:t>- app/agents/service.py</a:t>
            </a:r>
          </a:p>
          <a:p xmlns:a="http://schemas.openxmlformats.org/drawingml/2006/main">
            <a:r>
              <a:t>- app/api/chat.py</a:t>
            </a:r>
          </a:p>
          <a:p xmlns:a="http://schemas.openxmlformats.org/drawingml/2006/main">
            <a:r>
              <a:t>- app/services/prompt_service.py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架构围绕当前项目展开，没有加入尚不存在的组织服务、任务队列或专用微服务。前端提供对话、草案、会话和资料交互；FastAPI负责鉴权、阶段状态、请求路由与流式事件；主导师和专家使用不同提示词，但共用现有OpenAI兼容模型配置。SQLite保存业务数据、知识片段与审计，上传文件和Chroma向量索引存储在本地。课程库检索与会话资料上下文是两条不同通路。数据库迁移与异步任务队列属于后续演进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PROJECT_STRUCTURE.md</a:t>
            </a:r>
          </a:p>
          <a:p xmlns:a="http://schemas.openxmlformats.org/drawingml/2006/main">
            <a:r>
              <a:t>- frontend/package.json</a:t>
            </a:r>
          </a:p>
          <a:p xmlns:a="http://schemas.openxmlformats.org/drawingml/2006/main">
            <a:r>
              <a:t>- app/main.py</a:t>
            </a:r>
          </a:p>
          <a:p xmlns:a="http://schemas.openxmlformats.org/drawingml/2006/main">
            <a:r>
              <a:t>- app/db/models.py</a:t>
            </a:r>
          </a:p>
          <a:p xmlns:a="http://schemas.openxmlformats.org/drawingml/2006/main">
            <a:r>
              <a:t>- app/db/database.py</a:t>
            </a:r>
          </a:p>
          <a:p xmlns:a="http://schemas.openxmlformats.org/drawingml/2006/main">
            <a:r>
              <a:t>- app/services/curriculum_vector_service.py</a:t>
            </a:r>
          </a:p>
          <a:p xmlns:a="http://schemas.openxmlformats.org/drawingml/2006/main">
            <a:r>
              <a:t>- app/services/session_file_service.py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仓库真实Vue组件在隔离浏览器中的截图，API响应由本次制作的演示数据驱动，未连接真实账号或调用模型。左侧组织会话与阶段，中间进行主导师或专家咨询，右侧编辑草案。用户可上传参考资料，审阅修改提案，撤销聊天轮次或返回上一阶段，最后导出Markdown。截图用于展示已存在的产品界面，不作为后端端到端验证、模型质量或课堂效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frontend/src/App.vue</a:t>
            </a:r>
          </a:p>
          <a:p xmlns:a="http://schemas.openxmlformats.org/drawingml/2006/main">
            <a:r>
              <a:t>- frontend/src/api.ts</a:t>
            </a:r>
          </a:p>
          <a:p xmlns:a="http://schemas.openxmlformats.org/drawingml/2006/main">
            <a:r>
              <a:t>- frontend/src/types.ts</a:t>
            </a:r>
          </a:p>
          <a:p xmlns:a="http://schemas.openxmlformats.org/drawingml/2006/main">
            <a:r>
              <a:t>- .codex_artifacts/build_ai_inquiry_ppt_v2/ui/workbench.png</a:t>
            </a:r>
          </a:p>
          <a:p xmlns:a="http://schemas.openxmlformats.org/drawingml/2006/main">
            <a:r>
              <a:t>- .codex_artifacts/build_ai_inquiry_ppt_v2/ui/capture_ui.py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库支持文本型PDF、DOCX、TXT和MD，解析并切片，新上传课程文件默认未授权。管理员配置哪些专家可查某份文件。检索先取得本轮所选专家的获权source，在BM25评分前和Chroma查询中分别过滤。向量查询成功时，只有达到相似度阈值的向量候选进入融合，BM25参与评分；这不是两路候选无条件合并，阈值后无候选会返回空结果，不转用BM25补齐。向量不可用或查询异常时，查询链路回退BM25。CURRICULUM_VECTOR_REQUIRED目前在入库向量化失败时决定是否报错，查询降级分支未据此阻止回退。融合后可选规则重排，选取Top K并合并相邻片段注入专家提示词。默认使用本地BGE模型与Chroma，需要部署模型和索引。主导师与草案不直接检索课程库。审计保留专家、授权来源、命中来源和各路分数，不代表答案质量已获证明。扫描PDF尚不支持OC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app/services/curriculum_knowledge_service.py:195</a:t>
            </a:r>
          </a:p>
          <a:p xmlns:a="http://schemas.openxmlformats.org/drawingml/2006/main">
            <a:r>
              <a:t>- app/services/curriculum_knowledge_service.py:320</a:t>
            </a:r>
          </a:p>
          <a:p xmlns:a="http://schemas.openxmlformats.org/drawingml/2006/main">
            <a:r>
              <a:t>- app/services/curriculum_knowledge_service.py:379</a:t>
            </a:r>
          </a:p>
          <a:p xmlns:a="http://schemas.openxmlformats.org/drawingml/2006/main">
            <a:r>
              <a:t>- app/services/curriculum_knowledge_service.py:419</a:t>
            </a:r>
          </a:p>
          <a:p xmlns:a="http://schemas.openxmlformats.org/drawingml/2006/main">
            <a:r>
              <a:t>- app/services/curriculum_vector_service.py:267</a:t>
            </a:r>
          </a:p>
          <a:p xmlns:a="http://schemas.openxmlformats.org/drawingml/2006/main">
            <a:r>
              <a:t>- app/services/curriculum_permission_service.py:46</a:t>
            </a:r>
          </a:p>
          <a:p xmlns:a="http://schemas.openxmlformats.org/drawingml/2006/main">
            <a:r>
              <a:t>- app/services/rag_service.py:133</a:t>
            </a:r>
          </a:p>
          <a:p xmlns:a="http://schemas.openxmlformats.org/drawingml/2006/main">
            <a:r>
              <a:t>- app/api/chat.py:373</a:t>
            </a:r>
          </a:p>
          <a:p xmlns:a="http://schemas.openxmlformats.org/drawingml/2006/main">
            <a:r>
              <a:t>- app/core/config.py:49</a:t>
            </a:r>
          </a:p>
          <a:p xmlns:a="http://schemas.openxmlformats.org/drawingml/2006/main">
            <a:r>
              <a:t>- README.md 本地课标混合RAG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主动给出项目边界。已经形成的是教师工作流的基础闭环；文件管理、课程库授权、混合检索、审计等有实现。系统已有管理员入口和课程知识管理界面，因此不能把所有管理能力都写成未来才有。仍需建设的是学校班级组织、课堂观察记录、长期档案与平台管理，并完成真实试点的性能与质量验证。本次没有运行应用完整测试套件或真实模型，不能声称全部测试通过或达到20并发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app/api/auth.py</a:t>
            </a:r>
          </a:p>
          <a:p xmlns:a="http://schemas.openxmlformats.org/drawingml/2006/main">
            <a:r>
              <a:t>- app/api/chat.py</a:t>
            </a:r>
          </a:p>
          <a:p xmlns:a="http://schemas.openxmlformats.org/drawingml/2006/main">
            <a:r>
              <a:t>- app/api/sessions.py</a:t>
            </a:r>
          </a:p>
          <a:p xmlns:a="http://schemas.openxmlformats.org/drawingml/2006/main">
            <a:r>
              <a:t>- app/api/curriculum.py</a:t>
            </a:r>
          </a:p>
          <a:p xmlns:a="http://schemas.openxmlformats.org/drawingml/2006/main">
            <a:r>
              <a:t>- frontend/src/App.vue</a:t>
            </a:r>
          </a:p>
          <a:p xmlns:a="http://schemas.openxmlformats.org/drawingml/2006/main">
            <a:r>
              <a:t>- 平台未来发展方向与测试规划.md §11—14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结四个产品特点：持续迭代、阶段化探究、专业协同、成果沉淀。这里讲的是已实现机制带来的使用方式，不能把它扩张为经过对照实验验证的教学增益。过程留存也主要指会话、草案、检索日志等现有数据，并不意味着已经具备完整版本历史或学生成长档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PROJECT_STRUCTURE.md</a:t>
            </a:r>
          </a:p>
          <a:p xmlns:a="http://schemas.openxmlformats.org/drawingml/2006/main">
            <a:r>
              <a:t>- app/db/models.py</a:t>
            </a:r>
          </a:p>
          <a:p xmlns:a="http://schemas.openxmlformats.org/drawingml/2006/main">
            <a:r>
              <a:t>- 平台未来发展方向与测试规划.md §3—4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路线图的NOW指近期建设重点，不是已经完成的标杆项目。先打磨昆虫生命周期长期观察课程包与演示工作台，然后建设学校班级项目、组织权限与知识后台，最后将学生观察、图片、传感器和长期档案连接起来。多人试点应先通过并发与稳定性验证。文档建议20名并发教师、核心流程成功率至少95%、普通非模型接口P95低于1秒，这些都是建议验收目标，并非测试结果。重点还包括跨用户隔离、SSE中断后数据一致性、课程授权变更生效、索引重建和可选BM25降级，以及2/8/24小时稳定性测试。测试工具选择和数据库迁移属于实施规划，本页不将其当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平台未来发展方向与测试规划.md §5、§11.8、§12—14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 15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结束时重申三点：这是阶段化教学设计工作台；教师始终在环，主导师与专业角色协同；当前对话、知识支撑、草案审阅与导出已经有基础实现，平台化与真实课堂数据闭环仍有清晰建设任务。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</a:t>
            </a:r>
          </a:p>
          <a:p xmlns:a="http://schemas.openxmlformats.org/drawingml/2006/main">
            <a:r>
              <a:t>- 用户提供的结束页文案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e8c9fd4e64d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51965f57714787" /><Relationship Type="http://schemas.openxmlformats.org/officeDocument/2006/relationships/slideLayout" Target="/ppt/slideLayouts/slideLayout1.xml" Id="R815dfe6f74ca47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5dfe6f74ca47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c0b9c09424698" /><Relationship Type="http://schemas.openxmlformats.org/officeDocument/2006/relationships/notesSlide" Target="/ppt/notesSlides/notesSlide1.xml" Id="R2bed361df95440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292af97894af1" /><Relationship Type="http://schemas.openxmlformats.org/officeDocument/2006/relationships/notesSlide" Target="/ppt/notesSlides/notesSlide2.xml" Id="R16a77ff56d3f44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8e4e7a3b24f85" /><Relationship Type="http://schemas.openxmlformats.org/officeDocument/2006/relationships/notesSlide" Target="/ppt/notesSlides/notesSlide3.xml" Id="R75813a45a9d845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8c178576a4667" /><Relationship Type="http://schemas.openxmlformats.org/officeDocument/2006/relationships/notesSlide" Target="/ppt/notesSlides/notesSlide4.xml" Id="Re1c454ffe94b44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8f431dac74143" /><Relationship Type="http://schemas.openxmlformats.org/officeDocument/2006/relationships/notesSlide" Target="/ppt/notesSlides/notesSlide5.xml" Id="R006be756239541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9a5b9c66d408f" /><Relationship Type="http://schemas.openxmlformats.org/officeDocument/2006/relationships/notesSlide" Target="/ppt/notesSlides/notesSlide6.xml" Id="Re24ea6da1bd14b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fbc7fac254bea" /><Relationship Type="http://schemas.openxmlformats.org/officeDocument/2006/relationships/notesSlide" Target="/ppt/notesSlides/notesSlide7.xml" Id="R692e57d2cff145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1153248eb45da" /><Relationship Type="http://schemas.openxmlformats.org/officeDocument/2006/relationships/image" Target="/ppt/media/image.png" Id="R038029c1c6fa493f" /><Relationship Type="http://schemas.openxmlformats.org/officeDocument/2006/relationships/notesSlide" Target="/ppt/notesSlides/notesSlide8.xml" Id="R9338972a874049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994f66df0478f" /><Relationship Type="http://schemas.openxmlformats.org/officeDocument/2006/relationships/notesSlide" Target="/ppt/notesSlides/notesSlide9.xml" Id="Ra24a16e8716741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d0a1fe9aa4cb4" /><Relationship Type="http://schemas.openxmlformats.org/officeDocument/2006/relationships/notesSlide" Target="/ppt/notesSlides/notesSlide10.xml" Id="Ra1d21e3eb7674d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520d849cd49e9" /><Relationship Type="http://schemas.openxmlformats.org/officeDocument/2006/relationships/notesSlide" Target="/ppt/notesSlides/notesSlide11.xml" Id="Ra6d3285addfc4f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fb42ebabc415d" /><Relationship Type="http://schemas.openxmlformats.org/officeDocument/2006/relationships/notesSlide" Target="/ppt/notesSlides/notesSlide12.xml" Id="R67cf34426fdb4c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3fb27ac964dd5" /><Relationship Type="http://schemas.openxmlformats.org/officeDocument/2006/relationships/notesSlide" Target="/ppt/notesSlides/notesSlide13.xml" Id="R2a1bf4afb4af45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-1">
            <a:extLst xmlns:a="http://schemas.openxmlformats.org/drawingml/2006/main">
              <a:ext uri="{FF2B5EF4-FFF2-40B4-BE49-F238E27FC236}">
                <a16:creationId xmlns:a16="http://schemas.microsoft.com/office/drawing/2014/main" id="{5702DA48-A30E-4CC8-9D11-3047309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495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559A3E7E-0613-4C20-9B9A-308FE71C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AI 探究式</a:t>
            </a:r>
          </a:p>
          <a:p xmlns:a="http://schemas.openxmlformats.org/drawingml/2006/main">
            <a:pPr algn="l">
              <a:defRPr sz="45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教学助手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4DEC5816-3E96-443F-9FA1-B74C882C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14725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InquiryTeachingPythonService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项目成果展示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8D3700CC-8E33-44B1-B8FF-C4E21DD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6619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让 AI 从“生成教案”走向</a:t>
            </a:r>
          </a:p>
          <a:p xmlns:a="http://schemas.openxmlformats.org/drawingml/2006/main">
            <a:pPr algn="l">
              <a:def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“陪教师完成探究设计”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779ABB1E-1E09-4E18-BC5A-B823670D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90675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751F260B-3764-4492-854E-D9482D44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3057525" cy="3019425"/>
          </a:xfrm>
          <a:custGeom xmlns:a="http://schemas.openxmlformats.org/drawingml/2006/main">
            <a:pathLst>
              <a:path w="3057525" h="3019425">
                <a:moveTo>
                  <a:pt x="0" y="3019425"/>
                </a:moveTo>
                <a:lnTo>
                  <a:pt x="514350" y="2847975"/>
                </a:lnTo>
                <a:lnTo>
                  <a:pt x="1000125" y="2428875"/>
                </a:lnTo>
                <a:lnTo>
                  <a:pt x="1076325" y="1847850"/>
                </a:lnTo>
                <a:lnTo>
                  <a:pt x="1428750" y="1371600"/>
                </a:lnTo>
                <a:lnTo>
                  <a:pt x="2143125" y="1171575"/>
                </a:lnTo>
                <a:lnTo>
                  <a:pt x="2781300" y="666750"/>
                </a:lnTo>
                <a:lnTo>
                  <a:pt x="3057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0">
            <a:solidFill>
              <a:srgbClr val="C6D9D0"/>
            </a:solidFill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DA3A64D7-3AFA-4D69-BA3A-F1C16E3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62150"/>
            <a:ext cx="3057525" cy="3019425"/>
          </a:xfrm>
          <a:custGeom xmlns:a="http://schemas.openxmlformats.org/drawingml/2006/main">
            <a:pathLst>
              <a:path w="3057525" h="3019425">
                <a:moveTo>
                  <a:pt x="0" y="3019425"/>
                </a:moveTo>
                <a:lnTo>
                  <a:pt x="514350" y="2847975"/>
                </a:lnTo>
                <a:lnTo>
                  <a:pt x="1000125" y="2428875"/>
                </a:lnTo>
                <a:lnTo>
                  <a:pt x="1076325" y="1847850"/>
                </a:lnTo>
                <a:lnTo>
                  <a:pt x="1428750" y="1371600"/>
                </a:lnTo>
                <a:lnTo>
                  <a:pt x="2143125" y="1171575"/>
                </a:lnTo>
                <a:lnTo>
                  <a:pt x="2781300" y="666750"/>
                </a:lnTo>
                <a:lnTo>
                  <a:pt x="3057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87D70"/>
            </a:solidFill>
            <a:prstDash val="solid"/>
          </a:ln>
        </p:spPr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CD04F6BA-FE55-45E2-B0DC-B0D9B08B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1103D29E-63FF-4046-8B59-DFBDDD61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7E628CD1-0B42-4673-85EE-809DEE94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1" name="shape-11">
            <a:extLst xmlns:a="http://schemas.openxmlformats.org/drawingml/2006/main">
              <a:ext uri="{FF2B5EF4-FFF2-40B4-BE49-F238E27FC236}">
                <a16:creationId xmlns:a16="http://schemas.microsoft.com/office/drawing/2014/main" id="{F9516679-A874-41E1-8CAE-36820849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2" name="shape-12">
            <a:extLst xmlns:a="http://schemas.openxmlformats.org/drawingml/2006/main">
              <a:ext uri="{FF2B5EF4-FFF2-40B4-BE49-F238E27FC236}">
                <a16:creationId xmlns:a16="http://schemas.microsoft.com/office/drawing/2014/main" id="{29C9CB73-299B-4317-964A-897A9C53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FD1208CD-C516-4603-B4B1-8DD6B08C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43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4" name="shape-14">
            <a:extLst xmlns:a="http://schemas.openxmlformats.org/drawingml/2006/main">
              <a:ext uri="{FF2B5EF4-FFF2-40B4-BE49-F238E27FC236}">
                <a16:creationId xmlns:a16="http://schemas.microsoft.com/office/drawing/2014/main" id="{568DAB41-C3BC-48BC-B7C8-CAE60AD5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005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5" name="shape-15">
            <a:extLst xmlns:a="http://schemas.openxmlformats.org/drawingml/2006/main">
              <a:ext uri="{FF2B5EF4-FFF2-40B4-BE49-F238E27FC236}">
                <a16:creationId xmlns:a16="http://schemas.microsoft.com/office/drawing/2014/main" id="{99AEC0B5-7381-41E5-AAF9-D9D5CE61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719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16">
            <a:extLst xmlns:a="http://schemas.openxmlformats.org/drawingml/2006/main">
              <a:ext uri="{FF2B5EF4-FFF2-40B4-BE49-F238E27FC236}">
                <a16:creationId xmlns:a16="http://schemas.microsoft.com/office/drawing/2014/main" id="{BFD00428-8890-4613-8D32-3C8DF72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76775"/>
            <a:ext cx="4953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17">
            <a:extLst xmlns:a="http://schemas.openxmlformats.org/drawingml/2006/main">
              <a:ext uri="{FF2B5EF4-FFF2-40B4-BE49-F238E27FC236}">
                <a16:creationId xmlns:a16="http://schemas.microsoft.com/office/drawing/2014/main" id="{D73FBDDA-C512-4E8C-AC81-70DDC130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76850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18" name="shape-18">
            <a:extLst xmlns:a="http://schemas.openxmlformats.org/drawingml/2006/main">
              <a:ext uri="{FF2B5EF4-FFF2-40B4-BE49-F238E27FC236}">
                <a16:creationId xmlns:a16="http://schemas.microsoft.com/office/drawing/2014/main" id="{3451C6B4-1956-42A9-9056-39D260A8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91000"/>
            <a:ext cx="1152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-19">
            <a:extLst xmlns:a="http://schemas.openxmlformats.org/drawingml/2006/main">
              <a:ext uri="{FF2B5EF4-FFF2-40B4-BE49-F238E27FC236}">
                <a16:creationId xmlns:a16="http://schemas.microsoft.com/office/drawing/2014/main" id="{5A3D4041-0B55-404A-8A04-1B2D4DB0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1152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D44CB0E0-BB84-437F-85FD-FF593074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29075"/>
            <a:ext cx="657225" cy="304800"/>
          </a:xfrm>
          <a:custGeom xmlns:a="http://schemas.openxmlformats.org/drawingml/2006/main">
            <a:pathLst>
              <a:path w="657225" h="304800">
                <a:moveTo>
                  <a:pt x="657225" y="3048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67B98"/>
            </a:solidFill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B1D0E90D-56D3-490D-ABD4-4361D805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19174"/>
            <a:ext cx="85151" cy="81297"/>
          </a:xfrm>
          <a:custGeom xmlns:a="http://schemas.openxmlformats.org/drawingml/2006/main">
            <a:pathLst>
              <a:path w="85151" h="81297">
                <a:moveTo>
                  <a:pt x="85151" y="0"/>
                </a:moveTo>
                <a:lnTo>
                  <a:pt x="0" y="9901"/>
                </a:lnTo>
                <a:lnTo>
                  <a:pt x="47448" y="8129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67B98"/>
            </a:solidFill>
            <a:prstDash val="solid"/>
          </a:ln>
        </p:spPr>
      </p:sp>
      <p:sp>
        <p:nvSpPr>
          <p:cNvPr id="22" name="shape-22">
            <a:extLst xmlns:a="http://schemas.openxmlformats.org/drawingml/2006/main">
              <a:ext uri="{FF2B5EF4-FFF2-40B4-BE49-F238E27FC236}">
                <a16:creationId xmlns:a16="http://schemas.microsoft.com/office/drawing/2014/main" id="{008214DC-7DE8-4E7F-B965-D56EA88F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23" name="shape-23">
            <a:extLst xmlns:a="http://schemas.openxmlformats.org/drawingml/2006/main">
              <a:ext uri="{FF2B5EF4-FFF2-40B4-BE49-F238E27FC236}">
                <a16:creationId xmlns:a16="http://schemas.microsoft.com/office/drawing/2014/main" id="{43741C12-90DE-4F2E-861E-50D7E4BC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33475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探究</a:t>
            </a:r>
          </a:p>
        </p:txBody>
      </p:sp>
    </p:spTree>
    <p:extLst>
      <p:ext uri="{BB962C8B-B14F-4D97-AF65-F5344CB8AC3E}">
        <p14:creationId xmlns:p14="http://schemas.microsoft.com/office/powerpoint/2010/main" val="1422883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hape-24">
            <a:extLst xmlns:a="http://schemas.openxmlformats.org/drawingml/2006/main">
              <a:ext uri="{FF2B5EF4-FFF2-40B4-BE49-F238E27FC236}">
                <a16:creationId xmlns:a16="http://schemas.microsoft.com/office/drawing/2014/main" id="{3D4E5188-3C35-4E46-BA1B-5BDB29A3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探究教学，需要持续做判断</a:t>
            </a:r>
          </a:p>
        </p:txBody>
      </p:sp>
      <p:sp>
        <p:nvSpPr>
          <p:cNvPr id="2" name="shape-25">
            <a:extLst xmlns:a="http://schemas.openxmlformats.org/drawingml/2006/main">
              <a:ext uri="{FF2B5EF4-FFF2-40B4-BE49-F238E27FC236}">
                <a16:creationId xmlns:a16="http://schemas.microsoft.com/office/drawing/2014/main" id="{7BF172EA-3DEA-434D-B8BC-18EF5D77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从“一次拿到文本”到“逐步形成教学方案”</a:t>
            </a:r>
          </a:p>
        </p:txBody>
      </p:sp>
      <p:sp>
        <p:nvSpPr>
          <p:cNvPr id="3" name="shape-26">
            <a:extLst xmlns:a="http://schemas.openxmlformats.org/drawingml/2006/main">
              <a:ext uri="{FF2B5EF4-FFF2-40B4-BE49-F238E27FC236}">
                <a16:creationId xmlns:a16="http://schemas.microsoft.com/office/drawing/2014/main" id="{6E38F8E5-B92D-4677-ADC7-4AC9B4AA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shape-27">
            <a:extLst xmlns:a="http://schemas.openxmlformats.org/drawingml/2006/main">
              <a:ext uri="{FF2B5EF4-FFF2-40B4-BE49-F238E27FC236}">
                <a16:creationId xmlns:a16="http://schemas.microsoft.com/office/drawing/2014/main" id="{7A989EEA-5BF7-4A0E-B388-6AE8F49F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429000" cy="3305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28">
            <a:extLst xmlns:a="http://schemas.openxmlformats.org/drawingml/2006/main">
              <a:ext uri="{FF2B5EF4-FFF2-40B4-BE49-F238E27FC236}">
                <a16:creationId xmlns:a16="http://schemas.microsoft.com/office/drawing/2014/main" id="{7079A29A-02FB-4087-B42F-1F83927F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2933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一次生成式交互</a:t>
            </a:r>
          </a:p>
        </p:txBody>
      </p:sp>
      <p:sp>
        <p:nvSpPr>
          <p:cNvPr id="6" name="shape-29">
            <a:extLst xmlns:a="http://schemas.openxmlformats.org/drawingml/2006/main">
              <a:ext uri="{FF2B5EF4-FFF2-40B4-BE49-F238E27FC236}">
                <a16:creationId xmlns:a16="http://schemas.microsoft.com/office/drawing/2014/main" id="{CE52E740-758B-450F-95B1-F5BF8864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输入主题</a:t>
            </a:r>
          </a:p>
        </p:txBody>
      </p:sp>
      <p:sp>
        <p:nvSpPr>
          <p:cNvPr id="7" name="path-30">
            <a:extLst xmlns:a="http://schemas.openxmlformats.org/drawingml/2006/main">
              <a:ext uri="{FF2B5EF4-FFF2-40B4-BE49-F238E27FC236}">
                <a16:creationId xmlns:a16="http://schemas.microsoft.com/office/drawing/2014/main" id="{A7118B0F-477A-44EA-89AD-C053EFE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48025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C706E"/>
            </a:solidFill>
            <a:prstDash val="solid"/>
          </a:ln>
        </p:spPr>
      </p:sp>
      <p:sp>
        <p:nvSpPr>
          <p:cNvPr id="8" name="path-31">
            <a:extLst xmlns:a="http://schemas.openxmlformats.org/drawingml/2006/main">
              <a:ext uri="{FF2B5EF4-FFF2-40B4-BE49-F238E27FC236}">
                <a16:creationId xmlns:a16="http://schemas.microsoft.com/office/drawing/2014/main" id="{ED797987-70A6-466A-92BC-9813E589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818" y="3441642"/>
            <a:ext cx="89615" cy="73083"/>
          </a:xfrm>
          <a:custGeom xmlns:a="http://schemas.openxmlformats.org/drawingml/2006/main">
            <a:pathLst>
              <a:path w="89615" h="73083">
                <a:moveTo>
                  <a:pt x="0" y="0"/>
                </a:moveTo>
                <a:lnTo>
                  <a:pt x="44807" y="73083"/>
                </a:lnTo>
                <a:lnTo>
                  <a:pt x="89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C706E"/>
            </a:solidFill>
            <a:prstDash val="solid"/>
          </a:ln>
        </p:spPr>
      </p:sp>
      <p:sp>
        <p:nvSpPr>
          <p:cNvPr id="9" name="shape-32">
            <a:extLst xmlns:a="http://schemas.openxmlformats.org/drawingml/2006/main">
              <a:ext uri="{FF2B5EF4-FFF2-40B4-BE49-F238E27FC236}">
                <a16:creationId xmlns:a16="http://schemas.microsoft.com/office/drawing/2014/main" id="{27B61826-7E42-44B1-BA3A-84D0CAC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290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生成完整教案</a:t>
            </a:r>
          </a:p>
        </p:txBody>
      </p:sp>
      <p:sp>
        <p:nvSpPr>
          <p:cNvPr id="10" name="path-33">
            <a:extLst xmlns:a="http://schemas.openxmlformats.org/drawingml/2006/main">
              <a:ext uri="{FF2B5EF4-FFF2-40B4-BE49-F238E27FC236}">
                <a16:creationId xmlns:a16="http://schemas.microsoft.com/office/drawing/2014/main" id="{D646EB79-EF2E-44F4-9017-0FCADC90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038600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C706E"/>
            </a:solidFill>
            <a:prstDash val="solid"/>
          </a:ln>
        </p:spPr>
      </p:sp>
      <p:sp>
        <p:nvSpPr>
          <p:cNvPr id="11" name="path-34">
            <a:extLst xmlns:a="http://schemas.openxmlformats.org/drawingml/2006/main">
              <a:ext uri="{FF2B5EF4-FFF2-40B4-BE49-F238E27FC236}">
                <a16:creationId xmlns:a16="http://schemas.microsoft.com/office/drawing/2014/main" id="{FE5552C5-C5A3-417D-AE30-178CFD64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818" y="4232217"/>
            <a:ext cx="89615" cy="73083"/>
          </a:xfrm>
          <a:custGeom xmlns:a="http://schemas.openxmlformats.org/drawingml/2006/main">
            <a:pathLst>
              <a:path w="89615" h="73083">
                <a:moveTo>
                  <a:pt x="0" y="0"/>
                </a:moveTo>
                <a:lnTo>
                  <a:pt x="44807" y="73083"/>
                </a:lnTo>
                <a:lnTo>
                  <a:pt x="89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C706E"/>
            </a:solidFill>
            <a:prstDash val="solid"/>
          </a:ln>
        </p:spPr>
      </p:sp>
      <p:sp>
        <p:nvSpPr>
          <p:cNvPr id="12" name="shape-35">
            <a:extLst xmlns:a="http://schemas.openxmlformats.org/drawingml/2006/main">
              <a:ext uri="{FF2B5EF4-FFF2-40B4-BE49-F238E27FC236}">
                <a16:creationId xmlns:a16="http://schemas.microsoft.com/office/drawing/2014/main" id="{8DE90F0E-36D8-4F2C-96C7-F5F81AF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教师事后调整</a:t>
            </a:r>
          </a:p>
        </p:txBody>
      </p:sp>
      <p:sp>
        <p:nvSpPr>
          <p:cNvPr id="13" name="shape-36">
            <a:extLst xmlns:a="http://schemas.openxmlformats.org/drawingml/2006/main">
              <a:ext uri="{FF2B5EF4-FFF2-40B4-BE49-F238E27FC236}">
                <a16:creationId xmlns:a16="http://schemas.microsoft.com/office/drawing/2014/main" id="{584A3950-B2F8-4AA3-836D-522F507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431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探究设计中的连续决策</a:t>
            </a:r>
          </a:p>
        </p:txBody>
      </p:sp>
      <p:sp>
        <p:nvSpPr>
          <p:cNvPr id="14" name="shape-37">
            <a:extLst xmlns:a="http://schemas.openxmlformats.org/drawingml/2006/main">
              <a:ext uri="{FF2B5EF4-FFF2-40B4-BE49-F238E27FC236}">
                <a16:creationId xmlns:a16="http://schemas.microsoft.com/office/drawing/2014/main" id="{0FE6E2E6-537B-4676-86B4-E7059D39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38">
            <a:extLst xmlns:a="http://schemas.openxmlformats.org/drawingml/2006/main">
              <a:ext uri="{FF2B5EF4-FFF2-40B4-BE49-F238E27FC236}">
                <a16:creationId xmlns:a16="http://schemas.microsoft.com/office/drawing/2014/main" id="{2EFE45D6-A004-40F5-9197-08A9F476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6" name="shape-39">
            <a:extLst xmlns:a="http://schemas.openxmlformats.org/drawingml/2006/main">
              <a:ext uri="{FF2B5EF4-FFF2-40B4-BE49-F238E27FC236}">
                <a16:creationId xmlns:a16="http://schemas.microsoft.com/office/drawing/2014/main" id="{29D112EC-182A-4EA2-8B03-9306C0EC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40">
            <a:extLst xmlns:a="http://schemas.openxmlformats.org/drawingml/2006/main">
              <a:ext uri="{FF2B5EF4-FFF2-40B4-BE49-F238E27FC236}">
                <a16:creationId xmlns:a16="http://schemas.microsoft.com/office/drawing/2014/main" id="{0D9BC080-C8C8-4C99-89FF-0FF197DF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57550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猜想</a:t>
            </a:r>
          </a:p>
        </p:txBody>
      </p:sp>
      <p:sp>
        <p:nvSpPr>
          <p:cNvPr id="18" name="shape-41">
            <a:extLst xmlns:a="http://schemas.openxmlformats.org/drawingml/2006/main">
              <a:ext uri="{FF2B5EF4-FFF2-40B4-BE49-F238E27FC236}">
                <a16:creationId xmlns:a16="http://schemas.microsoft.com/office/drawing/2014/main" id="{EE6B9EE9-3F62-4016-9383-D794BF9C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95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-42">
            <a:extLst xmlns:a="http://schemas.openxmlformats.org/drawingml/2006/main">
              <a:ext uri="{FF2B5EF4-FFF2-40B4-BE49-F238E27FC236}">
                <a16:creationId xmlns:a16="http://schemas.microsoft.com/office/drawing/2014/main" id="{7C91394F-D046-4380-960F-D640E39E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57550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20" name="shape-43">
            <a:extLst xmlns:a="http://schemas.openxmlformats.org/drawingml/2006/main">
              <a:ext uri="{FF2B5EF4-FFF2-40B4-BE49-F238E27FC236}">
                <a16:creationId xmlns:a16="http://schemas.microsoft.com/office/drawing/2014/main" id="{5CDEE339-84D5-45C9-AD9F-54D7FD11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95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44">
            <a:extLst xmlns:a="http://schemas.openxmlformats.org/drawingml/2006/main">
              <a:ext uri="{FF2B5EF4-FFF2-40B4-BE49-F238E27FC236}">
                <a16:creationId xmlns:a16="http://schemas.microsoft.com/office/drawing/2014/main" id="{AF26B744-E738-4383-9BF8-A4687E74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57550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22" name="shape-45">
            <a:extLst xmlns:a="http://schemas.openxmlformats.org/drawingml/2006/main">
              <a:ext uri="{FF2B5EF4-FFF2-40B4-BE49-F238E27FC236}">
                <a16:creationId xmlns:a16="http://schemas.microsoft.com/office/drawing/2014/main" id="{44D3D9DE-6885-4FE7-BD19-AC0EFE4F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46">
            <a:extLst xmlns:a="http://schemas.openxmlformats.org/drawingml/2006/main">
              <a:ext uri="{FF2B5EF4-FFF2-40B4-BE49-F238E27FC236}">
                <a16:creationId xmlns:a16="http://schemas.microsoft.com/office/drawing/2014/main" id="{51CC6829-953D-46A2-B411-221047A8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24" name="shape-47">
            <a:extLst xmlns:a="http://schemas.openxmlformats.org/drawingml/2006/main">
              <a:ext uri="{FF2B5EF4-FFF2-40B4-BE49-F238E27FC236}">
                <a16:creationId xmlns:a16="http://schemas.microsoft.com/office/drawing/2014/main" id="{3B0D376C-6BF7-40B0-9DCE-C55E5F66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62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hape-48">
            <a:extLst xmlns:a="http://schemas.openxmlformats.org/drawingml/2006/main">
              <a:ext uri="{FF2B5EF4-FFF2-40B4-BE49-F238E27FC236}">
                <a16:creationId xmlns:a16="http://schemas.microsoft.com/office/drawing/2014/main" id="{9280E5E8-1553-492B-B057-87F3C8DC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6" name="shape-49">
            <a:extLst xmlns:a="http://schemas.openxmlformats.org/drawingml/2006/main">
              <a:ext uri="{FF2B5EF4-FFF2-40B4-BE49-F238E27FC236}">
                <a16:creationId xmlns:a16="http://schemas.microsoft.com/office/drawing/2014/main" id="{BB7836E9-5BEA-41B2-AD8B-634CBF0B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362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50">
            <a:extLst xmlns:a="http://schemas.openxmlformats.org/drawingml/2006/main">
              <a:ext uri="{FF2B5EF4-FFF2-40B4-BE49-F238E27FC236}">
                <a16:creationId xmlns:a16="http://schemas.microsoft.com/office/drawing/2014/main" id="{C20A5B08-9755-46F2-A96C-B3469715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243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迭代</a:t>
            </a:r>
          </a:p>
        </p:txBody>
      </p:sp>
      <p:sp>
        <p:nvSpPr>
          <p:cNvPr id="28" name="path-51">
            <a:extLst xmlns:a="http://schemas.openxmlformats.org/drawingml/2006/main">
              <a:ext uri="{FF2B5EF4-FFF2-40B4-BE49-F238E27FC236}">
                <a16:creationId xmlns:a16="http://schemas.microsoft.com/office/drawing/2014/main" id="{B0CA8E37-A2C5-485B-B6D5-46A15E6E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57575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9" name="path-52">
            <a:extLst xmlns:a="http://schemas.openxmlformats.org/drawingml/2006/main">
              <a:ext uri="{FF2B5EF4-FFF2-40B4-BE49-F238E27FC236}">
                <a16:creationId xmlns:a16="http://schemas.microsoft.com/office/drawing/2014/main" id="{7D623548-E32E-46FD-8D55-7F4B3024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742" y="341276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0" name="path-53">
            <a:extLst xmlns:a="http://schemas.openxmlformats.org/drawingml/2006/main">
              <a:ext uri="{FF2B5EF4-FFF2-40B4-BE49-F238E27FC236}">
                <a16:creationId xmlns:a16="http://schemas.microsoft.com/office/drawing/2014/main" id="{E029A640-E6A3-4F9B-AB70-678AF047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57575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1" name="path-54">
            <a:extLst xmlns:a="http://schemas.openxmlformats.org/drawingml/2006/main">
              <a:ext uri="{FF2B5EF4-FFF2-40B4-BE49-F238E27FC236}">
                <a16:creationId xmlns:a16="http://schemas.microsoft.com/office/drawing/2014/main" id="{440E4C72-AF37-44F3-A91C-F7D287DD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742" y="341276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2" name="path-55">
            <a:extLst xmlns:a="http://schemas.openxmlformats.org/drawingml/2006/main">
              <a:ext uri="{FF2B5EF4-FFF2-40B4-BE49-F238E27FC236}">
                <a16:creationId xmlns:a16="http://schemas.microsoft.com/office/drawing/2014/main" id="{53217045-4E06-408D-ACB4-DE576A94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57575"/>
            <a:ext cx="619125" cy="9525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3" name="path-56">
            <a:extLst xmlns:a="http://schemas.openxmlformats.org/drawingml/2006/main">
              <a:ext uri="{FF2B5EF4-FFF2-40B4-BE49-F238E27FC236}">
                <a16:creationId xmlns:a16="http://schemas.microsoft.com/office/drawing/2014/main" id="{4FD1D797-FCB6-41C3-A34E-C8C63AE7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742" y="341276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4" name="path-57">
            <a:extLst xmlns:a="http://schemas.openxmlformats.org/drawingml/2006/main">
              <a:ext uri="{FF2B5EF4-FFF2-40B4-BE49-F238E27FC236}">
                <a16:creationId xmlns:a16="http://schemas.microsoft.com/office/drawing/2014/main" id="{695FA17A-9BD7-4806-9A8F-DD00BEE6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457575"/>
            <a:ext cx="2019300" cy="1266825"/>
          </a:xfrm>
          <a:custGeom xmlns:a="http://schemas.openxmlformats.org/drawingml/2006/main">
            <a:pathLst>
              <a:path w="2019300" h="1266825">
                <a:moveTo>
                  <a:pt x="1609725" y="0"/>
                </a:moveTo>
                <a:lnTo>
                  <a:pt x="2019300" y="0"/>
                </a:lnTo>
                <a:lnTo>
                  <a:pt x="2019300" y="1266825"/>
                </a:lnTo>
                <a:lnTo>
                  <a:pt x="0" y="12668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5" name="path-58">
            <a:extLst xmlns:a="http://schemas.openxmlformats.org/drawingml/2006/main">
              <a:ext uri="{FF2B5EF4-FFF2-40B4-BE49-F238E27FC236}">
                <a16:creationId xmlns:a16="http://schemas.microsoft.com/office/drawing/2014/main" id="{6F26D164-E97B-4D0B-91E1-A2B700BD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24400"/>
            <a:ext cx="142875" cy="9525"/>
          </a:xfrm>
          <a:custGeom xmlns:a="http://schemas.openxmlformats.org/drawingml/2006/main">
            <a:pathLst>
              <a:path w="142875" h="9525">
                <a:moveTo>
                  <a:pt x="1428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6" name="path-59">
            <a:extLst xmlns:a="http://schemas.openxmlformats.org/drawingml/2006/main">
              <a:ext uri="{FF2B5EF4-FFF2-40B4-BE49-F238E27FC236}">
                <a16:creationId xmlns:a16="http://schemas.microsoft.com/office/drawing/2014/main" id="{A37ED45C-6236-4306-AF25-E856341D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679593"/>
            <a:ext cx="73083" cy="89615"/>
          </a:xfrm>
          <a:custGeom xmlns:a="http://schemas.openxmlformats.org/drawingml/2006/main">
            <a:pathLst>
              <a:path w="73083" h="89615">
                <a:moveTo>
                  <a:pt x="73083" y="0"/>
                </a:moveTo>
                <a:lnTo>
                  <a:pt x="0" y="44807"/>
                </a:lnTo>
                <a:lnTo>
                  <a:pt x="73083" y="8961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7" name="path-60">
            <a:extLst xmlns:a="http://schemas.openxmlformats.org/drawingml/2006/main">
              <a:ext uri="{FF2B5EF4-FFF2-40B4-BE49-F238E27FC236}">
                <a16:creationId xmlns:a16="http://schemas.microsoft.com/office/drawing/2014/main" id="{39F5DEEB-2077-44D3-9D5E-F8F901D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24400"/>
            <a:ext cx="609600" cy="9525"/>
          </a:xfrm>
          <a:custGeom xmlns:a="http://schemas.openxmlformats.org/drawingml/2006/main">
            <a:pathLst>
              <a:path w="609600" h="9525">
                <a:moveTo>
                  <a:pt x="6096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8" name="path-61">
            <a:extLst xmlns:a="http://schemas.openxmlformats.org/drawingml/2006/main">
              <a:ext uri="{FF2B5EF4-FFF2-40B4-BE49-F238E27FC236}">
                <a16:creationId xmlns:a16="http://schemas.microsoft.com/office/drawing/2014/main" id="{0D913526-5487-45F8-ABCB-7775AC7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79593"/>
            <a:ext cx="73083" cy="89615"/>
          </a:xfrm>
          <a:custGeom xmlns:a="http://schemas.openxmlformats.org/drawingml/2006/main">
            <a:pathLst>
              <a:path w="73083" h="89615">
                <a:moveTo>
                  <a:pt x="73083" y="0"/>
                </a:moveTo>
                <a:lnTo>
                  <a:pt x="0" y="44807"/>
                </a:lnTo>
                <a:lnTo>
                  <a:pt x="73083" y="8961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9" name="path-62">
            <a:extLst xmlns:a="http://schemas.openxmlformats.org/drawingml/2006/main">
              <a:ext uri="{FF2B5EF4-FFF2-40B4-BE49-F238E27FC236}">
                <a16:creationId xmlns:a16="http://schemas.microsoft.com/office/drawing/2014/main" id="{222D671E-9B35-436F-B441-04D1E572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24400"/>
            <a:ext cx="600075" cy="9525"/>
          </a:xfrm>
          <a:custGeom xmlns:a="http://schemas.openxmlformats.org/drawingml/2006/main">
            <a:pathLst>
              <a:path w="600075" h="9525">
                <a:moveTo>
                  <a:pt x="6000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40" name="path-63">
            <a:extLst xmlns:a="http://schemas.openxmlformats.org/drawingml/2006/main">
              <a:ext uri="{FF2B5EF4-FFF2-40B4-BE49-F238E27FC236}">
                <a16:creationId xmlns:a16="http://schemas.microsoft.com/office/drawing/2014/main" id="{86A48CEB-4865-4908-B52D-ED53F196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679593"/>
            <a:ext cx="73083" cy="89615"/>
          </a:xfrm>
          <a:custGeom xmlns:a="http://schemas.openxmlformats.org/drawingml/2006/main">
            <a:pathLst>
              <a:path w="73083" h="89615">
                <a:moveTo>
                  <a:pt x="73083" y="0"/>
                </a:moveTo>
                <a:lnTo>
                  <a:pt x="0" y="44807"/>
                </a:lnTo>
                <a:lnTo>
                  <a:pt x="73083" y="8961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41" name="shape-64">
            <a:extLst xmlns:a="http://schemas.openxmlformats.org/drawingml/2006/main">
              <a:ext uri="{FF2B5EF4-FFF2-40B4-BE49-F238E27FC236}">
                <a16:creationId xmlns:a16="http://schemas.microsoft.com/office/drawing/2014/main" id="{8B3DB35E-C307-4F01-9194-1275690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6394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探究式教学不是一次内容生成，而是一段持续决策过程</a:t>
            </a:r>
          </a:p>
        </p:txBody>
      </p:sp>
    </p:spTree>
    <p:extLst>
      <p:ext uri="{BB962C8B-B14F-4D97-AF65-F5344CB8AC3E}">
        <p14:creationId xmlns:p14="http://schemas.microsoft.com/office/powerpoint/2010/main" val="683134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hape-65">
            <a:extLst xmlns:a="http://schemas.openxmlformats.org/drawingml/2006/main">
              <a:ext uri="{FF2B5EF4-FFF2-40B4-BE49-F238E27FC236}">
                <a16:creationId xmlns:a16="http://schemas.microsoft.com/office/drawing/2014/main" id="{AB9A0DA1-32D6-40EC-BE1D-EF5E44CF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让教学设计在同一个工作台持续推进</a:t>
            </a:r>
          </a:p>
        </p:txBody>
      </p:sp>
      <p:sp>
        <p:nvSpPr>
          <p:cNvPr id="2" name="shape-66">
            <a:extLst xmlns:a="http://schemas.openxmlformats.org/drawingml/2006/main">
              <a:ext uri="{FF2B5EF4-FFF2-40B4-BE49-F238E27FC236}">
                <a16:creationId xmlns:a16="http://schemas.microsoft.com/office/drawing/2014/main" id="{72DC6DFB-A612-4458-9C62-D65E2AD7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教师在环 · 阶段化推进 · 专业能力协同</a:t>
            </a:r>
          </a:p>
        </p:txBody>
      </p:sp>
      <p:sp>
        <p:nvSpPr>
          <p:cNvPr id="3" name="shape-67">
            <a:extLst xmlns:a="http://schemas.openxmlformats.org/drawingml/2006/main">
              <a:ext uri="{FF2B5EF4-FFF2-40B4-BE49-F238E27FC236}">
                <a16:creationId xmlns:a16="http://schemas.microsoft.com/office/drawing/2014/main" id="{9CB43B39-EE5D-4E7B-8537-F7E938DF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shape-68">
            <a:extLst xmlns:a="http://schemas.openxmlformats.org/drawingml/2006/main">
              <a:ext uri="{FF2B5EF4-FFF2-40B4-BE49-F238E27FC236}">
                <a16:creationId xmlns:a16="http://schemas.microsoft.com/office/drawing/2014/main" id="{716F2975-88A9-4209-9E81-DC32365E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2238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69">
            <a:extLst xmlns:a="http://schemas.openxmlformats.org/drawingml/2006/main">
              <a:ext uri="{FF2B5EF4-FFF2-40B4-BE49-F238E27FC236}">
                <a16:creationId xmlns:a16="http://schemas.microsoft.com/office/drawing/2014/main" id="{E7EA224E-294D-4C16-BEAC-110F6AD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52675"/>
            <a:ext cx="2009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教师提出需求</a:t>
            </a:r>
          </a:p>
        </p:txBody>
      </p:sp>
      <p:sp>
        <p:nvSpPr>
          <p:cNvPr id="6" name="shape-70">
            <a:extLst xmlns:a="http://schemas.openxmlformats.org/drawingml/2006/main">
              <a:ext uri="{FF2B5EF4-FFF2-40B4-BE49-F238E27FC236}">
                <a16:creationId xmlns:a16="http://schemas.microsoft.com/office/drawing/2014/main" id="{A1059603-7C74-47D0-BCEF-5DED7DF3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76475"/>
            <a:ext cx="2295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71">
            <a:extLst xmlns:a="http://schemas.openxmlformats.org/drawingml/2006/main">
              <a:ext uri="{FF2B5EF4-FFF2-40B4-BE49-F238E27FC236}">
                <a16:creationId xmlns:a16="http://schemas.microsoft.com/office/drawing/2014/main" id="{4D7D7196-A1ED-4725-B8C6-4FB4A81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52675"/>
            <a:ext cx="20669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主导师</a:t>
            </a:r>
          </a:p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阶段化讨论</a:t>
            </a:r>
          </a:p>
        </p:txBody>
      </p:sp>
      <p:sp>
        <p:nvSpPr>
          <p:cNvPr id="8" name="shape-72">
            <a:extLst xmlns:a="http://schemas.openxmlformats.org/drawingml/2006/main">
              <a:ext uri="{FF2B5EF4-FFF2-40B4-BE49-F238E27FC236}">
                <a16:creationId xmlns:a16="http://schemas.microsoft.com/office/drawing/2014/main" id="{1A2BD375-1202-4988-98BD-59045DA6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76475"/>
            <a:ext cx="2133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73">
            <a:extLst xmlns:a="http://schemas.openxmlformats.org/drawingml/2006/main">
              <a:ext uri="{FF2B5EF4-FFF2-40B4-BE49-F238E27FC236}">
                <a16:creationId xmlns:a16="http://schemas.microsoft.com/office/drawing/2014/main" id="{3789D1F2-F4B3-4CEF-8ABC-56E6A36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阶段草案</a:t>
            </a:r>
          </a:p>
        </p:txBody>
      </p:sp>
      <p:sp>
        <p:nvSpPr>
          <p:cNvPr id="10" name="shape-74">
            <a:extLst xmlns:a="http://schemas.openxmlformats.org/drawingml/2006/main">
              <a:ext uri="{FF2B5EF4-FFF2-40B4-BE49-F238E27FC236}">
                <a16:creationId xmlns:a16="http://schemas.microsoft.com/office/drawing/2014/main" id="{C0DE56D0-E064-4933-AD28-17257AD0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76475"/>
            <a:ext cx="2305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75">
            <a:extLst xmlns:a="http://schemas.openxmlformats.org/drawingml/2006/main">
              <a:ext uri="{FF2B5EF4-FFF2-40B4-BE49-F238E27FC236}">
                <a16:creationId xmlns:a16="http://schemas.microsoft.com/office/drawing/2014/main" id="{16501D70-5617-452E-82AB-ED05109A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52675"/>
            <a:ext cx="2076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教师审阅</a:t>
            </a:r>
          </a:p>
        </p:txBody>
      </p:sp>
      <p:sp>
        <p:nvSpPr>
          <p:cNvPr id="12" name="path-76">
            <a:extLst xmlns:a="http://schemas.openxmlformats.org/drawingml/2006/main">
              <a:ext uri="{FF2B5EF4-FFF2-40B4-BE49-F238E27FC236}">
                <a16:creationId xmlns:a16="http://schemas.microsoft.com/office/drawing/2014/main" id="{63CF1BD3-9CF5-4703-86A9-C6E14473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765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3" name="path-77">
            <a:extLst xmlns:a="http://schemas.openxmlformats.org/drawingml/2006/main">
              <a:ext uri="{FF2B5EF4-FFF2-40B4-BE49-F238E27FC236}">
                <a16:creationId xmlns:a16="http://schemas.microsoft.com/office/drawing/2014/main" id="{5C7236D6-E100-4AA3-B182-B2421C45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342" y="263171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4" name="path-78">
            <a:extLst xmlns:a="http://schemas.openxmlformats.org/drawingml/2006/main">
              <a:ext uri="{FF2B5EF4-FFF2-40B4-BE49-F238E27FC236}">
                <a16:creationId xmlns:a16="http://schemas.microsoft.com/office/drawing/2014/main" id="{7CB15BCA-5B02-4965-87AB-E5B75293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6765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5" name="path-79">
            <a:extLst xmlns:a="http://schemas.openxmlformats.org/drawingml/2006/main">
              <a:ext uri="{FF2B5EF4-FFF2-40B4-BE49-F238E27FC236}">
                <a16:creationId xmlns:a16="http://schemas.microsoft.com/office/drawing/2014/main" id="{D4D7BE46-2ED7-429E-AE2A-CBBAB94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092" y="263171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6" name="path-80">
            <a:extLst xmlns:a="http://schemas.openxmlformats.org/drawingml/2006/main">
              <a:ext uri="{FF2B5EF4-FFF2-40B4-BE49-F238E27FC236}">
                <a16:creationId xmlns:a16="http://schemas.microsoft.com/office/drawing/2014/main" id="{BCE5DE4E-367D-49BA-973A-13F55737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765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7" name="path-81">
            <a:extLst xmlns:a="http://schemas.openxmlformats.org/drawingml/2006/main">
              <a:ext uri="{FF2B5EF4-FFF2-40B4-BE49-F238E27FC236}">
                <a16:creationId xmlns:a16="http://schemas.microsoft.com/office/drawing/2014/main" id="{CBBF4A69-82D6-4E9A-8FEF-E845D90A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917" y="263171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8" name="path-82">
            <a:extLst xmlns:a="http://schemas.openxmlformats.org/drawingml/2006/main">
              <a:ext uri="{FF2B5EF4-FFF2-40B4-BE49-F238E27FC236}">
                <a16:creationId xmlns:a16="http://schemas.microsoft.com/office/drawing/2014/main" id="{8A87FB50-4B2E-4540-8BE0-6C776712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90875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0"/>
                </a:moveTo>
                <a:lnTo>
                  <a:pt x="0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9" name="path-83">
            <a:extLst xmlns:a="http://schemas.openxmlformats.org/drawingml/2006/main">
              <a:ext uri="{FF2B5EF4-FFF2-40B4-BE49-F238E27FC236}">
                <a16:creationId xmlns:a16="http://schemas.microsoft.com/office/drawing/2014/main" id="{79A12BE5-2AF6-41E2-B63B-2DEABA2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067175"/>
            <a:ext cx="9525" cy="466725"/>
          </a:xfrm>
          <a:custGeom xmlns:a="http://schemas.openxmlformats.org/drawingml/2006/main"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0" name="path-84">
            <a:extLst xmlns:a="http://schemas.openxmlformats.org/drawingml/2006/main">
              <a:ext uri="{FF2B5EF4-FFF2-40B4-BE49-F238E27FC236}">
                <a16:creationId xmlns:a16="http://schemas.microsoft.com/office/drawing/2014/main" id="{6DE43862-E868-49A0-8AA9-485F5AA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6493" y="4460817"/>
            <a:ext cx="89615" cy="73083"/>
          </a:xfrm>
          <a:custGeom xmlns:a="http://schemas.openxmlformats.org/drawingml/2006/main">
            <a:pathLst>
              <a:path w="89615" h="73083">
                <a:moveTo>
                  <a:pt x="0" y="0"/>
                </a:moveTo>
                <a:lnTo>
                  <a:pt x="44807" y="73083"/>
                </a:lnTo>
                <a:lnTo>
                  <a:pt x="89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1" name="shape-85">
            <a:extLst xmlns:a="http://schemas.openxmlformats.org/drawingml/2006/main">
              <a:ext uri="{FF2B5EF4-FFF2-40B4-BE49-F238E27FC236}">
                <a16:creationId xmlns:a16="http://schemas.microsoft.com/office/drawing/2014/main" id="{E5137639-585D-4826-92FB-D7716051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52950"/>
            <a:ext cx="2305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86">
            <a:extLst xmlns:a="http://schemas.openxmlformats.org/drawingml/2006/main">
              <a:ext uri="{FF2B5EF4-FFF2-40B4-BE49-F238E27FC236}">
                <a16:creationId xmlns:a16="http://schemas.microsoft.com/office/drawing/2014/main" id="{D71EAD85-476F-4443-BC3C-A88F6CB6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629150"/>
            <a:ext cx="2076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导出教学方案</a:t>
            </a:r>
          </a:p>
        </p:txBody>
      </p:sp>
      <p:sp>
        <p:nvSpPr>
          <p:cNvPr id="23" name="path-87">
            <a:extLst xmlns:a="http://schemas.openxmlformats.org/drawingml/2006/main">
              <a:ext uri="{FF2B5EF4-FFF2-40B4-BE49-F238E27FC236}">
                <a16:creationId xmlns:a16="http://schemas.microsoft.com/office/drawing/2014/main" id="{7D74CF44-6ABA-4C45-86BE-C84F28B6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90875"/>
            <a:ext cx="5162550" cy="476250"/>
          </a:xfrm>
          <a:custGeom xmlns:a="http://schemas.openxmlformats.org/drawingml/2006/main">
            <a:pathLst>
              <a:path w="5162550" h="476250">
                <a:moveTo>
                  <a:pt x="5162550" y="95250"/>
                </a:moveTo>
                <a:lnTo>
                  <a:pt x="51625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4" name="path-88">
            <a:extLst xmlns:a="http://schemas.openxmlformats.org/drawingml/2006/main">
              <a:ext uri="{FF2B5EF4-FFF2-40B4-BE49-F238E27FC236}">
                <a16:creationId xmlns:a16="http://schemas.microsoft.com/office/drawing/2014/main" id="{F6DBB83E-DAE9-40CA-849F-7E2F479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90875"/>
            <a:ext cx="9525" cy="209550"/>
          </a:xfrm>
          <a:custGeom xmlns:a="http://schemas.openxmlformats.org/drawingml/2006/main">
            <a:pathLst>
              <a:path w="9525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5" name="path-89">
            <a:extLst xmlns:a="http://schemas.openxmlformats.org/drawingml/2006/main">
              <a:ext uri="{FF2B5EF4-FFF2-40B4-BE49-F238E27FC236}">
                <a16:creationId xmlns:a16="http://schemas.microsoft.com/office/drawing/2014/main" id="{0F5F85D3-087D-4049-B833-0FECFE40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393" y="3190875"/>
            <a:ext cx="89615" cy="73083"/>
          </a:xfrm>
          <a:custGeom xmlns:a="http://schemas.openxmlformats.org/drawingml/2006/main">
            <a:pathLst>
              <a:path w="89615" h="73083">
                <a:moveTo>
                  <a:pt x="89615" y="73083"/>
                </a:moveTo>
                <a:lnTo>
                  <a:pt x="44807" y="0"/>
                </a:lnTo>
                <a:lnTo>
                  <a:pt x="0" y="730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6" name="shape-90">
            <a:extLst xmlns:a="http://schemas.openxmlformats.org/drawingml/2006/main">
              <a:ext uri="{FF2B5EF4-FFF2-40B4-BE49-F238E27FC236}">
                <a16:creationId xmlns:a16="http://schemas.microsoft.com/office/drawing/2014/main" id="{AC9D41FC-5F57-4BAD-B266-BD67D010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67100"/>
            <a:ext cx="2609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91">
            <a:extLst xmlns:a="http://schemas.openxmlformats.org/drawingml/2006/main">
              <a:ext uri="{FF2B5EF4-FFF2-40B4-BE49-F238E27FC236}">
                <a16:creationId xmlns:a16="http://schemas.microsoft.com/office/drawing/2014/main" id="{DD29423F-7053-41C9-B033-4A42FD1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追问、修改、继续推进</a:t>
            </a:r>
          </a:p>
        </p:txBody>
      </p:sp>
      <p:sp>
        <p:nvSpPr>
          <p:cNvPr id="28" name="shape-92">
            <a:extLst xmlns:a="http://schemas.openxmlformats.org/drawingml/2006/main">
              <a:ext uri="{FF2B5EF4-FFF2-40B4-BE49-F238E27FC236}">
                <a16:creationId xmlns:a16="http://schemas.microsoft.com/office/drawing/2014/main" id="{5D4BF076-AD46-4725-AD5D-21DB6906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7962900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e-93">
            <a:extLst xmlns:a="http://schemas.openxmlformats.org/drawingml/2006/main">
              <a:ext uri="{FF2B5EF4-FFF2-40B4-BE49-F238E27FC236}">
                <a16:creationId xmlns:a16="http://schemas.microsoft.com/office/drawing/2014/main" id="{0E880ED9-85D5-4B34-9232-B94D97F0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为当前任务提供支撑</a:t>
            </a:r>
          </a:p>
        </p:txBody>
      </p:sp>
      <p:sp>
        <p:nvSpPr>
          <p:cNvPr id="30" name="shape-94">
            <a:extLst xmlns:a="http://schemas.openxmlformats.org/drawingml/2006/main">
              <a:ext uri="{FF2B5EF4-FFF2-40B4-BE49-F238E27FC236}">
                <a16:creationId xmlns:a16="http://schemas.microsoft.com/office/drawing/2014/main" id="{D0BD00B2-3877-47F6-A74A-609F5FE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33950"/>
            <a:ext cx="7477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会话资料     专家咨询     获授权课程知识</a:t>
            </a:r>
          </a:p>
        </p:txBody>
      </p:sp>
      <p:sp>
        <p:nvSpPr>
          <p:cNvPr id="31" name="path-95">
            <a:extLst xmlns:a="http://schemas.openxmlformats.org/drawingml/2006/main">
              <a:ext uri="{FF2B5EF4-FFF2-40B4-BE49-F238E27FC236}">
                <a16:creationId xmlns:a16="http://schemas.microsoft.com/office/drawing/2014/main" id="{1B395127-CD3F-4A2A-A956-FF053AC4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385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6D9D0"/>
            </a:solidFill>
            <a:prstDash val="solid"/>
          </a:ln>
        </p:spPr>
      </p:sp>
      <p:sp>
        <p:nvSpPr>
          <p:cNvPr id="32" name="path-96">
            <a:extLst xmlns:a="http://schemas.openxmlformats.org/drawingml/2006/main">
              <a:ext uri="{FF2B5EF4-FFF2-40B4-BE49-F238E27FC236}">
                <a16:creationId xmlns:a16="http://schemas.microsoft.com/office/drawing/2014/main" id="{954D095F-8DF0-4708-912E-55D2ADAB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393" y="3838575"/>
            <a:ext cx="89615" cy="73083"/>
          </a:xfrm>
          <a:custGeom xmlns:a="http://schemas.openxmlformats.org/drawingml/2006/main">
            <a:pathLst>
              <a:path w="89615" h="73083">
                <a:moveTo>
                  <a:pt x="89615" y="73083"/>
                </a:moveTo>
                <a:lnTo>
                  <a:pt x="44807" y="0"/>
                </a:lnTo>
                <a:lnTo>
                  <a:pt x="0" y="7308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6D9D0"/>
            </a:solidFill>
            <a:prstDash val="solid"/>
          </a:ln>
        </p:spPr>
      </p:sp>
      <p:sp>
        <p:nvSpPr>
          <p:cNvPr id="33" name="shape-97">
            <a:extLst xmlns:a="http://schemas.openxmlformats.org/drawingml/2006/main">
              <a:ext uri="{FF2B5EF4-FFF2-40B4-BE49-F238E27FC236}">
                <a16:creationId xmlns:a16="http://schemas.microsoft.com/office/drawing/2014/main" id="{BF7E3D83-C954-4378-9F40-F49CE2FF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81675"/>
            <a:ext cx="10715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专家回答进入共享对话历史，供后续主导师继续讨论与整理</a:t>
            </a:r>
          </a:p>
        </p:txBody>
      </p:sp>
    </p:spTree>
    <p:extLst>
      <p:ext uri="{BB962C8B-B14F-4D97-AF65-F5344CB8AC3E}">
        <p14:creationId xmlns:p14="http://schemas.microsoft.com/office/powerpoint/2010/main" val="580756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hape-98">
            <a:extLst xmlns:a="http://schemas.openxmlformats.org/drawingml/2006/main">
              <a:ext uri="{FF2B5EF4-FFF2-40B4-BE49-F238E27FC236}">
                <a16:creationId xmlns:a16="http://schemas.microsoft.com/office/drawing/2014/main" id="{4DDA4F88-B3C8-4378-BDE5-C737030C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一个观察，沿七个阶段长成教学方案</a:t>
            </a:r>
          </a:p>
        </p:txBody>
      </p:sp>
      <p:sp>
        <p:nvSpPr>
          <p:cNvPr id="2" name="shape-99">
            <a:extLst xmlns:a="http://schemas.openxmlformats.org/drawingml/2006/main">
              <a:ext uri="{FF2B5EF4-FFF2-40B4-BE49-F238E27FC236}">
                <a16:creationId xmlns:a16="http://schemas.microsoft.com/office/drawing/2014/main" id="{8FEAF7FE-5292-437C-A63E-2E71582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七阶段探究流 · 每段都有目标，推进与回退由教师触发</a:t>
            </a:r>
          </a:p>
        </p:txBody>
      </p:sp>
      <p:sp>
        <p:nvSpPr>
          <p:cNvPr id="3" name="shape-100">
            <a:extLst xmlns:a="http://schemas.openxmlformats.org/drawingml/2006/main">
              <a:ext uri="{FF2B5EF4-FFF2-40B4-BE49-F238E27FC236}">
                <a16:creationId xmlns:a16="http://schemas.microsoft.com/office/drawing/2014/main" id="{B7D1A21B-AE1D-48A7-AD13-C0144881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path-101">
            <a:extLst xmlns:a="http://schemas.openxmlformats.org/drawingml/2006/main">
              <a:ext uri="{FF2B5EF4-FFF2-40B4-BE49-F238E27FC236}">
                <a16:creationId xmlns:a16="http://schemas.microsoft.com/office/drawing/2014/main" id="{E8499FA3-65CD-474B-AB99-871B189F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0001250" cy="1981200"/>
          </a:xfrm>
          <a:custGeom xmlns:a="http://schemas.openxmlformats.org/drawingml/2006/main">
            <a:pathLst>
              <a:path w="10001250" h="1981200">
                <a:moveTo>
                  <a:pt x="0" y="990600"/>
                </a:moveTo>
                <a:lnTo>
                  <a:pt x="100013" y="928400"/>
                </a:lnTo>
                <a:lnTo>
                  <a:pt x="200025" y="866445"/>
                </a:lnTo>
                <a:lnTo>
                  <a:pt x="300038" y="804980"/>
                </a:lnTo>
                <a:lnTo>
                  <a:pt x="400050" y="744248"/>
                </a:lnTo>
                <a:lnTo>
                  <a:pt x="500063" y="684488"/>
                </a:lnTo>
                <a:lnTo>
                  <a:pt x="600075" y="625936"/>
                </a:lnTo>
                <a:lnTo>
                  <a:pt x="700088" y="568823"/>
                </a:lnTo>
                <a:lnTo>
                  <a:pt x="800100" y="513375"/>
                </a:lnTo>
                <a:lnTo>
                  <a:pt x="900113" y="459810"/>
                </a:lnTo>
                <a:lnTo>
                  <a:pt x="1000125" y="408340"/>
                </a:lnTo>
                <a:lnTo>
                  <a:pt x="1100138" y="359168"/>
                </a:lnTo>
                <a:lnTo>
                  <a:pt x="1200150" y="312488"/>
                </a:lnTo>
                <a:lnTo>
                  <a:pt x="1300163" y="268484"/>
                </a:lnTo>
                <a:lnTo>
                  <a:pt x="1400175" y="227330"/>
                </a:lnTo>
                <a:lnTo>
                  <a:pt x="1500188" y="189188"/>
                </a:lnTo>
                <a:lnTo>
                  <a:pt x="1600200" y="154209"/>
                </a:lnTo>
                <a:lnTo>
                  <a:pt x="1700213" y="122531"/>
                </a:lnTo>
                <a:lnTo>
                  <a:pt x="1800225" y="94278"/>
                </a:lnTo>
                <a:lnTo>
                  <a:pt x="1900238" y="69563"/>
                </a:lnTo>
                <a:lnTo>
                  <a:pt x="2000250" y="48483"/>
                </a:lnTo>
                <a:lnTo>
                  <a:pt x="2100263" y="31122"/>
                </a:lnTo>
                <a:lnTo>
                  <a:pt x="2200275" y="17546"/>
                </a:lnTo>
                <a:lnTo>
                  <a:pt x="2300288" y="7811"/>
                </a:lnTo>
                <a:lnTo>
                  <a:pt x="2400300" y="1955"/>
                </a:lnTo>
                <a:lnTo>
                  <a:pt x="2500313" y="0"/>
                </a:lnTo>
                <a:lnTo>
                  <a:pt x="2600325" y="1955"/>
                </a:lnTo>
                <a:lnTo>
                  <a:pt x="2700338" y="7811"/>
                </a:lnTo>
                <a:lnTo>
                  <a:pt x="2800350" y="17546"/>
                </a:lnTo>
                <a:lnTo>
                  <a:pt x="2900363" y="31122"/>
                </a:lnTo>
                <a:lnTo>
                  <a:pt x="3000375" y="48483"/>
                </a:lnTo>
                <a:lnTo>
                  <a:pt x="3100388" y="69563"/>
                </a:lnTo>
                <a:lnTo>
                  <a:pt x="3200400" y="94278"/>
                </a:lnTo>
                <a:lnTo>
                  <a:pt x="3300413" y="122531"/>
                </a:lnTo>
                <a:lnTo>
                  <a:pt x="3400425" y="154209"/>
                </a:lnTo>
                <a:lnTo>
                  <a:pt x="3500438" y="189188"/>
                </a:lnTo>
                <a:lnTo>
                  <a:pt x="3600450" y="227330"/>
                </a:lnTo>
                <a:lnTo>
                  <a:pt x="3700463" y="268484"/>
                </a:lnTo>
                <a:lnTo>
                  <a:pt x="3800475" y="312488"/>
                </a:lnTo>
                <a:lnTo>
                  <a:pt x="3900488" y="359168"/>
                </a:lnTo>
                <a:lnTo>
                  <a:pt x="4000500" y="408340"/>
                </a:lnTo>
                <a:lnTo>
                  <a:pt x="4100513" y="459810"/>
                </a:lnTo>
                <a:lnTo>
                  <a:pt x="4200525" y="513375"/>
                </a:lnTo>
                <a:lnTo>
                  <a:pt x="4300538" y="568823"/>
                </a:lnTo>
                <a:lnTo>
                  <a:pt x="4400550" y="625936"/>
                </a:lnTo>
                <a:lnTo>
                  <a:pt x="4500563" y="684488"/>
                </a:lnTo>
                <a:lnTo>
                  <a:pt x="4600575" y="744248"/>
                </a:lnTo>
                <a:lnTo>
                  <a:pt x="4700588" y="804980"/>
                </a:lnTo>
                <a:lnTo>
                  <a:pt x="4800600" y="866445"/>
                </a:lnTo>
                <a:lnTo>
                  <a:pt x="4900613" y="928400"/>
                </a:lnTo>
                <a:lnTo>
                  <a:pt x="5000625" y="990600"/>
                </a:lnTo>
                <a:lnTo>
                  <a:pt x="5100638" y="1052800"/>
                </a:lnTo>
                <a:lnTo>
                  <a:pt x="5200650" y="1114755"/>
                </a:lnTo>
                <a:lnTo>
                  <a:pt x="5300663" y="1176220"/>
                </a:lnTo>
                <a:lnTo>
                  <a:pt x="5400675" y="1236952"/>
                </a:lnTo>
                <a:lnTo>
                  <a:pt x="5500688" y="1296712"/>
                </a:lnTo>
                <a:lnTo>
                  <a:pt x="5600700" y="1355264"/>
                </a:lnTo>
                <a:lnTo>
                  <a:pt x="5700713" y="1412377"/>
                </a:lnTo>
                <a:lnTo>
                  <a:pt x="5800725" y="1467825"/>
                </a:lnTo>
                <a:lnTo>
                  <a:pt x="5900738" y="1521390"/>
                </a:lnTo>
                <a:lnTo>
                  <a:pt x="6000750" y="1572860"/>
                </a:lnTo>
                <a:lnTo>
                  <a:pt x="6100763" y="1622032"/>
                </a:lnTo>
                <a:lnTo>
                  <a:pt x="6200775" y="1668712"/>
                </a:lnTo>
                <a:lnTo>
                  <a:pt x="6300788" y="1712716"/>
                </a:lnTo>
                <a:lnTo>
                  <a:pt x="6400800" y="1753870"/>
                </a:lnTo>
                <a:lnTo>
                  <a:pt x="6500813" y="1792012"/>
                </a:lnTo>
                <a:lnTo>
                  <a:pt x="6600825" y="1826991"/>
                </a:lnTo>
                <a:lnTo>
                  <a:pt x="6700838" y="1858669"/>
                </a:lnTo>
                <a:lnTo>
                  <a:pt x="6800850" y="1886922"/>
                </a:lnTo>
                <a:lnTo>
                  <a:pt x="6900863" y="1911637"/>
                </a:lnTo>
                <a:lnTo>
                  <a:pt x="7000875" y="1932717"/>
                </a:lnTo>
                <a:lnTo>
                  <a:pt x="7100888" y="1950078"/>
                </a:lnTo>
                <a:lnTo>
                  <a:pt x="7200900" y="1963654"/>
                </a:lnTo>
                <a:lnTo>
                  <a:pt x="7300913" y="1973389"/>
                </a:lnTo>
                <a:lnTo>
                  <a:pt x="7400925" y="1979245"/>
                </a:lnTo>
                <a:lnTo>
                  <a:pt x="7500938" y="1981200"/>
                </a:lnTo>
                <a:lnTo>
                  <a:pt x="7600950" y="1979245"/>
                </a:lnTo>
                <a:lnTo>
                  <a:pt x="7700963" y="1973389"/>
                </a:lnTo>
                <a:lnTo>
                  <a:pt x="7800975" y="1963654"/>
                </a:lnTo>
                <a:lnTo>
                  <a:pt x="7900988" y="1950078"/>
                </a:lnTo>
                <a:lnTo>
                  <a:pt x="8001000" y="1932717"/>
                </a:lnTo>
                <a:lnTo>
                  <a:pt x="8101013" y="1911637"/>
                </a:lnTo>
                <a:lnTo>
                  <a:pt x="8201025" y="1886922"/>
                </a:lnTo>
                <a:lnTo>
                  <a:pt x="8301038" y="1858669"/>
                </a:lnTo>
                <a:lnTo>
                  <a:pt x="8401050" y="1826991"/>
                </a:lnTo>
                <a:lnTo>
                  <a:pt x="8501063" y="1792012"/>
                </a:lnTo>
                <a:lnTo>
                  <a:pt x="8601075" y="1753870"/>
                </a:lnTo>
                <a:lnTo>
                  <a:pt x="8701088" y="1712716"/>
                </a:lnTo>
                <a:lnTo>
                  <a:pt x="8801100" y="1668712"/>
                </a:lnTo>
                <a:lnTo>
                  <a:pt x="8901113" y="1622032"/>
                </a:lnTo>
                <a:lnTo>
                  <a:pt x="9001125" y="1572860"/>
                </a:lnTo>
                <a:lnTo>
                  <a:pt x="9101138" y="1521390"/>
                </a:lnTo>
                <a:lnTo>
                  <a:pt x="9201150" y="1467825"/>
                </a:lnTo>
                <a:lnTo>
                  <a:pt x="9301163" y="1412377"/>
                </a:lnTo>
                <a:lnTo>
                  <a:pt x="9401175" y="1355264"/>
                </a:lnTo>
                <a:lnTo>
                  <a:pt x="9501188" y="1296712"/>
                </a:lnTo>
                <a:lnTo>
                  <a:pt x="9601200" y="1236952"/>
                </a:lnTo>
                <a:lnTo>
                  <a:pt x="9701213" y="1176220"/>
                </a:lnTo>
                <a:lnTo>
                  <a:pt x="9801225" y="1114755"/>
                </a:lnTo>
                <a:lnTo>
                  <a:pt x="9901238" y="1052800"/>
                </a:lnTo>
                <a:lnTo>
                  <a:pt x="1000125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238125">
            <a:solidFill>
              <a:srgbClr val="DFF1E7"/>
            </a:solidFill>
            <a:prstDash val="solid"/>
          </a:ln>
        </p:spPr>
      </p:sp>
      <p:sp>
        <p:nvSpPr>
          <p:cNvPr id="5" name="path-102">
            <a:extLst xmlns:a="http://schemas.openxmlformats.org/drawingml/2006/main">
              <a:ext uri="{FF2B5EF4-FFF2-40B4-BE49-F238E27FC236}">
                <a16:creationId xmlns:a16="http://schemas.microsoft.com/office/drawing/2014/main" id="{65202B6F-02E8-4966-8240-7F93095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0001250" cy="1981200"/>
          </a:xfrm>
          <a:custGeom xmlns:a="http://schemas.openxmlformats.org/drawingml/2006/main">
            <a:pathLst>
              <a:path w="10001250" h="1981200">
                <a:moveTo>
                  <a:pt x="0" y="990600"/>
                </a:moveTo>
                <a:lnTo>
                  <a:pt x="100013" y="928400"/>
                </a:lnTo>
                <a:lnTo>
                  <a:pt x="200025" y="866445"/>
                </a:lnTo>
                <a:lnTo>
                  <a:pt x="300038" y="804980"/>
                </a:lnTo>
                <a:lnTo>
                  <a:pt x="400050" y="744248"/>
                </a:lnTo>
                <a:lnTo>
                  <a:pt x="500063" y="684488"/>
                </a:lnTo>
                <a:lnTo>
                  <a:pt x="600075" y="625936"/>
                </a:lnTo>
                <a:lnTo>
                  <a:pt x="700088" y="568823"/>
                </a:lnTo>
                <a:lnTo>
                  <a:pt x="800100" y="513375"/>
                </a:lnTo>
                <a:lnTo>
                  <a:pt x="900113" y="459810"/>
                </a:lnTo>
                <a:lnTo>
                  <a:pt x="1000125" y="408340"/>
                </a:lnTo>
                <a:lnTo>
                  <a:pt x="1100138" y="359168"/>
                </a:lnTo>
                <a:lnTo>
                  <a:pt x="1200150" y="312488"/>
                </a:lnTo>
                <a:lnTo>
                  <a:pt x="1300163" y="268484"/>
                </a:lnTo>
                <a:lnTo>
                  <a:pt x="1400175" y="227330"/>
                </a:lnTo>
                <a:lnTo>
                  <a:pt x="1500188" y="189188"/>
                </a:lnTo>
                <a:lnTo>
                  <a:pt x="1600200" y="154209"/>
                </a:lnTo>
                <a:lnTo>
                  <a:pt x="1700213" y="122531"/>
                </a:lnTo>
                <a:lnTo>
                  <a:pt x="1800225" y="94278"/>
                </a:lnTo>
                <a:lnTo>
                  <a:pt x="1900238" y="69563"/>
                </a:lnTo>
                <a:lnTo>
                  <a:pt x="2000250" y="48483"/>
                </a:lnTo>
                <a:lnTo>
                  <a:pt x="2100263" y="31122"/>
                </a:lnTo>
                <a:lnTo>
                  <a:pt x="2200275" y="17546"/>
                </a:lnTo>
                <a:lnTo>
                  <a:pt x="2300288" y="7811"/>
                </a:lnTo>
                <a:lnTo>
                  <a:pt x="2400300" y="1955"/>
                </a:lnTo>
                <a:lnTo>
                  <a:pt x="2500313" y="0"/>
                </a:lnTo>
                <a:lnTo>
                  <a:pt x="2600325" y="1955"/>
                </a:lnTo>
                <a:lnTo>
                  <a:pt x="2700338" y="7811"/>
                </a:lnTo>
                <a:lnTo>
                  <a:pt x="2800350" y="17546"/>
                </a:lnTo>
                <a:lnTo>
                  <a:pt x="2900363" y="31122"/>
                </a:lnTo>
                <a:lnTo>
                  <a:pt x="3000375" y="48483"/>
                </a:lnTo>
                <a:lnTo>
                  <a:pt x="3100388" y="69563"/>
                </a:lnTo>
                <a:lnTo>
                  <a:pt x="3200400" y="94278"/>
                </a:lnTo>
                <a:lnTo>
                  <a:pt x="3300413" y="122531"/>
                </a:lnTo>
                <a:lnTo>
                  <a:pt x="3400425" y="154209"/>
                </a:lnTo>
                <a:lnTo>
                  <a:pt x="3500438" y="189188"/>
                </a:lnTo>
                <a:lnTo>
                  <a:pt x="3600450" y="227330"/>
                </a:lnTo>
                <a:lnTo>
                  <a:pt x="3700463" y="268484"/>
                </a:lnTo>
                <a:lnTo>
                  <a:pt x="3800475" y="312488"/>
                </a:lnTo>
                <a:lnTo>
                  <a:pt x="3900488" y="359168"/>
                </a:lnTo>
                <a:lnTo>
                  <a:pt x="4000500" y="408340"/>
                </a:lnTo>
                <a:lnTo>
                  <a:pt x="4100513" y="459810"/>
                </a:lnTo>
                <a:lnTo>
                  <a:pt x="4200525" y="513375"/>
                </a:lnTo>
                <a:lnTo>
                  <a:pt x="4300538" y="568823"/>
                </a:lnTo>
                <a:lnTo>
                  <a:pt x="4400550" y="625936"/>
                </a:lnTo>
                <a:lnTo>
                  <a:pt x="4500563" y="684488"/>
                </a:lnTo>
                <a:lnTo>
                  <a:pt x="4600575" y="744248"/>
                </a:lnTo>
                <a:lnTo>
                  <a:pt x="4700588" y="804980"/>
                </a:lnTo>
                <a:lnTo>
                  <a:pt x="4800600" y="866445"/>
                </a:lnTo>
                <a:lnTo>
                  <a:pt x="4900613" y="928400"/>
                </a:lnTo>
                <a:lnTo>
                  <a:pt x="5000625" y="990600"/>
                </a:lnTo>
                <a:lnTo>
                  <a:pt x="5100638" y="1052800"/>
                </a:lnTo>
                <a:lnTo>
                  <a:pt x="5200650" y="1114755"/>
                </a:lnTo>
                <a:lnTo>
                  <a:pt x="5300663" y="1176220"/>
                </a:lnTo>
                <a:lnTo>
                  <a:pt x="5400675" y="1236952"/>
                </a:lnTo>
                <a:lnTo>
                  <a:pt x="5500688" y="1296712"/>
                </a:lnTo>
                <a:lnTo>
                  <a:pt x="5600700" y="1355264"/>
                </a:lnTo>
                <a:lnTo>
                  <a:pt x="5700713" y="1412377"/>
                </a:lnTo>
                <a:lnTo>
                  <a:pt x="5800725" y="1467825"/>
                </a:lnTo>
                <a:lnTo>
                  <a:pt x="5900738" y="1521390"/>
                </a:lnTo>
                <a:lnTo>
                  <a:pt x="6000750" y="1572860"/>
                </a:lnTo>
                <a:lnTo>
                  <a:pt x="6100763" y="1622032"/>
                </a:lnTo>
                <a:lnTo>
                  <a:pt x="6200775" y="1668712"/>
                </a:lnTo>
                <a:lnTo>
                  <a:pt x="6300788" y="1712716"/>
                </a:lnTo>
                <a:lnTo>
                  <a:pt x="6400800" y="1753870"/>
                </a:lnTo>
                <a:lnTo>
                  <a:pt x="6500813" y="1792012"/>
                </a:lnTo>
                <a:lnTo>
                  <a:pt x="6600825" y="1826991"/>
                </a:lnTo>
                <a:lnTo>
                  <a:pt x="6700838" y="1858669"/>
                </a:lnTo>
                <a:lnTo>
                  <a:pt x="6800850" y="1886922"/>
                </a:lnTo>
                <a:lnTo>
                  <a:pt x="6900863" y="1911637"/>
                </a:lnTo>
                <a:lnTo>
                  <a:pt x="7000875" y="1932717"/>
                </a:lnTo>
                <a:lnTo>
                  <a:pt x="7100888" y="1950078"/>
                </a:lnTo>
                <a:lnTo>
                  <a:pt x="7200900" y="1963654"/>
                </a:lnTo>
                <a:lnTo>
                  <a:pt x="7300913" y="1973389"/>
                </a:lnTo>
                <a:lnTo>
                  <a:pt x="7400925" y="1979245"/>
                </a:lnTo>
                <a:lnTo>
                  <a:pt x="7500938" y="1981200"/>
                </a:lnTo>
                <a:lnTo>
                  <a:pt x="7600950" y="1979245"/>
                </a:lnTo>
                <a:lnTo>
                  <a:pt x="7700963" y="1973389"/>
                </a:lnTo>
                <a:lnTo>
                  <a:pt x="7800975" y="1963654"/>
                </a:lnTo>
                <a:lnTo>
                  <a:pt x="7900988" y="1950078"/>
                </a:lnTo>
                <a:lnTo>
                  <a:pt x="8001000" y="1932717"/>
                </a:lnTo>
                <a:lnTo>
                  <a:pt x="8101013" y="1911637"/>
                </a:lnTo>
                <a:lnTo>
                  <a:pt x="8201025" y="1886922"/>
                </a:lnTo>
                <a:lnTo>
                  <a:pt x="8301038" y="1858669"/>
                </a:lnTo>
                <a:lnTo>
                  <a:pt x="8401050" y="1826991"/>
                </a:lnTo>
                <a:lnTo>
                  <a:pt x="8501063" y="1792012"/>
                </a:lnTo>
                <a:lnTo>
                  <a:pt x="8601075" y="1753870"/>
                </a:lnTo>
                <a:lnTo>
                  <a:pt x="8701088" y="1712716"/>
                </a:lnTo>
                <a:lnTo>
                  <a:pt x="8801100" y="1668712"/>
                </a:lnTo>
                <a:lnTo>
                  <a:pt x="8901113" y="1622032"/>
                </a:lnTo>
                <a:lnTo>
                  <a:pt x="9001125" y="1572860"/>
                </a:lnTo>
                <a:lnTo>
                  <a:pt x="9101138" y="1521390"/>
                </a:lnTo>
                <a:lnTo>
                  <a:pt x="9201150" y="1467825"/>
                </a:lnTo>
                <a:lnTo>
                  <a:pt x="9301163" y="1412377"/>
                </a:lnTo>
                <a:lnTo>
                  <a:pt x="9401175" y="1355264"/>
                </a:lnTo>
                <a:lnTo>
                  <a:pt x="9501188" y="1296712"/>
                </a:lnTo>
                <a:lnTo>
                  <a:pt x="9601200" y="1236952"/>
                </a:lnTo>
                <a:lnTo>
                  <a:pt x="9701213" y="1176220"/>
                </a:lnTo>
                <a:lnTo>
                  <a:pt x="9801225" y="1114755"/>
                </a:lnTo>
                <a:lnTo>
                  <a:pt x="9901238" y="1052800"/>
                </a:lnTo>
                <a:lnTo>
                  <a:pt x="1000125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87D70"/>
            </a:solidFill>
            <a:prstDash val="solid"/>
          </a:ln>
        </p:spPr>
      </p:sp>
      <p:sp>
        <p:nvSpPr>
          <p:cNvPr id="6" name="shape-103">
            <a:extLst xmlns:a="http://schemas.openxmlformats.org/drawingml/2006/main">
              <a:ext uri="{FF2B5EF4-FFF2-40B4-BE49-F238E27FC236}">
                <a16:creationId xmlns:a16="http://schemas.microsoft.com/office/drawing/2014/main" id="{B1169920-E945-4796-B26C-57FD2F94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343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7" name="shape-104">
            <a:extLst xmlns:a="http://schemas.openxmlformats.org/drawingml/2006/main">
              <a:ext uri="{FF2B5EF4-FFF2-40B4-BE49-F238E27FC236}">
                <a16:creationId xmlns:a16="http://schemas.microsoft.com/office/drawing/2014/main" id="{370F3D56-03E4-4498-B031-28092EB3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62325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shape-105">
            <a:extLst xmlns:a="http://schemas.openxmlformats.org/drawingml/2006/main">
              <a:ext uri="{FF2B5EF4-FFF2-40B4-BE49-F238E27FC236}">
                <a16:creationId xmlns:a16="http://schemas.microsoft.com/office/drawing/2014/main" id="{9064DBF3-5E0A-40C1-82E1-8DCAD8AD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43150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观察起点</a:t>
            </a:r>
          </a:p>
        </p:txBody>
      </p:sp>
      <p:sp>
        <p:nvSpPr>
          <p:cNvPr id="9" name="shape-106">
            <a:extLst xmlns:a="http://schemas.openxmlformats.org/drawingml/2006/main">
              <a:ext uri="{FF2B5EF4-FFF2-40B4-BE49-F238E27FC236}">
                <a16:creationId xmlns:a16="http://schemas.microsoft.com/office/drawing/2014/main" id="{B97178B0-FCD9-4755-B37E-302FE300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40290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从现象出发</a:t>
            </a:r>
          </a:p>
        </p:txBody>
      </p:sp>
      <p:sp>
        <p:nvSpPr>
          <p:cNvPr id="10" name="shape-107">
            <a:extLst xmlns:a="http://schemas.openxmlformats.org/drawingml/2006/main">
              <a:ext uri="{FF2B5EF4-FFF2-40B4-BE49-F238E27FC236}">
                <a16:creationId xmlns:a16="http://schemas.microsoft.com/office/drawing/2014/main" id="{75843404-030C-4B7A-8D31-1253F9B7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8539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1" name="shape-108">
            <a:extLst xmlns:a="http://schemas.openxmlformats.org/drawingml/2006/main">
              <a:ext uri="{FF2B5EF4-FFF2-40B4-BE49-F238E27FC236}">
                <a16:creationId xmlns:a16="http://schemas.microsoft.com/office/drawing/2014/main" id="{64E5C346-8E48-459B-93C1-90F797DD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04440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shape-109">
            <a:extLst xmlns:a="http://schemas.openxmlformats.org/drawingml/2006/main">
              <a:ext uri="{FF2B5EF4-FFF2-40B4-BE49-F238E27FC236}">
                <a16:creationId xmlns:a16="http://schemas.microsoft.com/office/drawing/2014/main" id="{DAEEBF94-3441-43FE-8FB1-DA1FAE9B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485265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循疑问题</a:t>
            </a:r>
          </a:p>
        </p:txBody>
      </p:sp>
      <p:sp>
        <p:nvSpPr>
          <p:cNvPr id="13" name="shape-110">
            <a:extLst xmlns:a="http://schemas.openxmlformats.org/drawingml/2006/main">
              <a:ext uri="{FF2B5EF4-FFF2-40B4-BE49-F238E27FC236}">
                <a16:creationId xmlns:a16="http://schemas.microsoft.com/office/drawing/2014/main" id="{56B3B72C-C467-4BBF-B781-2B7E369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8539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4" name="shape-111">
            <a:extLst xmlns:a="http://schemas.openxmlformats.org/drawingml/2006/main">
              <a:ext uri="{FF2B5EF4-FFF2-40B4-BE49-F238E27FC236}">
                <a16:creationId xmlns:a16="http://schemas.microsoft.com/office/drawing/2014/main" id="{3D7F0188-B02F-47B8-91D6-87C5CC34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04440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shape-112">
            <a:extLst xmlns:a="http://schemas.openxmlformats.org/drawingml/2006/main">
              <a:ext uri="{FF2B5EF4-FFF2-40B4-BE49-F238E27FC236}">
                <a16:creationId xmlns:a16="http://schemas.microsoft.com/office/drawing/2014/main" id="{317AF25A-0CE1-4E06-90B6-F7F98180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85265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可能的猜想</a:t>
            </a:r>
          </a:p>
        </p:txBody>
      </p:sp>
      <p:sp>
        <p:nvSpPr>
          <p:cNvPr id="16" name="shape-113">
            <a:extLst xmlns:a="http://schemas.openxmlformats.org/drawingml/2006/main">
              <a:ext uri="{FF2B5EF4-FFF2-40B4-BE49-F238E27FC236}">
                <a16:creationId xmlns:a16="http://schemas.microsoft.com/office/drawing/2014/main" id="{CEF638B0-73C5-4DE4-91C4-5579A04F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43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7" name="shape-114">
            <a:extLst xmlns:a="http://schemas.openxmlformats.org/drawingml/2006/main">
              <a:ext uri="{FF2B5EF4-FFF2-40B4-BE49-F238E27FC236}">
                <a16:creationId xmlns:a16="http://schemas.microsoft.com/office/drawing/2014/main" id="{0B2CDDB3-D132-4DFD-9DB3-2C21F0D0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62325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shape-115">
            <a:extLst xmlns:a="http://schemas.openxmlformats.org/drawingml/2006/main">
              <a:ext uri="{FF2B5EF4-FFF2-40B4-BE49-F238E27FC236}">
                <a16:creationId xmlns:a16="http://schemas.microsoft.com/office/drawing/2014/main" id="{C35AFD38-C778-4BD5-A86E-7C2A30C6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43150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实验设计</a:t>
            </a:r>
          </a:p>
        </p:txBody>
      </p:sp>
      <p:sp>
        <p:nvSpPr>
          <p:cNvPr id="19" name="shape-116">
            <a:extLst xmlns:a="http://schemas.openxmlformats.org/drawingml/2006/main">
              <a:ext uri="{FF2B5EF4-FFF2-40B4-BE49-F238E27FC236}">
                <a16:creationId xmlns:a16="http://schemas.microsoft.com/office/drawing/2014/main" id="{1703A0D9-8746-4736-B8A1-59B8AFD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0290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形成验证方案</a:t>
            </a:r>
          </a:p>
        </p:txBody>
      </p:sp>
      <p:sp>
        <p:nvSpPr>
          <p:cNvPr id="20" name="shape-117">
            <a:extLst xmlns:a="http://schemas.openxmlformats.org/drawingml/2006/main">
              <a:ext uri="{FF2B5EF4-FFF2-40B4-BE49-F238E27FC236}">
                <a16:creationId xmlns:a16="http://schemas.microsoft.com/office/drawing/2014/main" id="{C0F123B8-7CAC-4609-A05F-37F14396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0116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1" name="shape-118">
            <a:extLst xmlns:a="http://schemas.openxmlformats.org/drawingml/2006/main">
              <a:ext uri="{FF2B5EF4-FFF2-40B4-BE49-F238E27FC236}">
                <a16:creationId xmlns:a16="http://schemas.microsoft.com/office/drawing/2014/main" id="{35E4F0DF-35E0-4E7D-9934-BEB7327C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0210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shape-119">
            <a:extLst xmlns:a="http://schemas.openxmlformats.org/drawingml/2006/main">
              <a:ext uri="{FF2B5EF4-FFF2-40B4-BE49-F238E27FC236}">
                <a16:creationId xmlns:a16="http://schemas.microsoft.com/office/drawing/2014/main" id="{0B7D0BFC-804D-42CC-9225-34B5829B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48860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实验中的</a:t>
            </a:r>
          </a:p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新问题</a:t>
            </a:r>
          </a:p>
        </p:txBody>
      </p:sp>
      <p:sp>
        <p:nvSpPr>
          <p:cNvPr id="23" name="shape-120">
            <a:extLst xmlns:a="http://schemas.openxmlformats.org/drawingml/2006/main">
              <a:ext uri="{FF2B5EF4-FFF2-40B4-BE49-F238E27FC236}">
                <a16:creationId xmlns:a16="http://schemas.microsoft.com/office/drawing/2014/main" id="{2C086583-764F-4149-9BEB-40CB1ADF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0116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4" name="shape-121">
            <a:extLst xmlns:a="http://schemas.openxmlformats.org/drawingml/2006/main">
              <a:ext uri="{FF2B5EF4-FFF2-40B4-BE49-F238E27FC236}">
                <a16:creationId xmlns:a16="http://schemas.microsoft.com/office/drawing/2014/main" id="{25F0FDA7-1C19-4363-A936-91602EE7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20210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5" name="shape-122">
            <a:extLst xmlns:a="http://schemas.openxmlformats.org/drawingml/2006/main">
              <a:ext uri="{FF2B5EF4-FFF2-40B4-BE49-F238E27FC236}">
                <a16:creationId xmlns:a16="http://schemas.microsoft.com/office/drawing/2014/main" id="{98ADC8ED-667A-47A2-A998-6CFB36E2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848860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可能的结论</a:t>
            </a:r>
          </a:p>
        </p:txBody>
      </p:sp>
      <p:sp>
        <p:nvSpPr>
          <p:cNvPr id="26" name="shape-123">
            <a:extLst xmlns:a="http://schemas.openxmlformats.org/drawingml/2006/main">
              <a:ext uri="{FF2B5EF4-FFF2-40B4-BE49-F238E27FC236}">
                <a16:creationId xmlns:a16="http://schemas.microsoft.com/office/drawing/2014/main" id="{6F4515B1-0E25-4E6D-A2B2-38508D13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343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7" name="shape-124">
            <a:extLst xmlns:a="http://schemas.openxmlformats.org/drawingml/2006/main">
              <a:ext uri="{FF2B5EF4-FFF2-40B4-BE49-F238E27FC236}">
                <a16:creationId xmlns:a16="http://schemas.microsoft.com/office/drawing/2014/main" id="{0BDF3EA7-1719-4896-A3FE-28578AAF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362325"/>
            <a:ext cx="419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8" name="shape-125">
            <a:extLst xmlns:a="http://schemas.openxmlformats.org/drawingml/2006/main">
              <a:ext uri="{FF2B5EF4-FFF2-40B4-BE49-F238E27FC236}">
                <a16:creationId xmlns:a16="http://schemas.microsoft.com/office/drawing/2014/main" id="{ED2C3AC1-B3F4-4D30-9B14-622A35D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90975"/>
            <a:ext cx="1752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延伸与</a:t>
            </a:r>
          </a:p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新问题</a:t>
            </a:r>
          </a:p>
        </p:txBody>
      </p:sp>
      <p:sp>
        <p:nvSpPr>
          <p:cNvPr id="29" name="shape-126">
            <a:extLst xmlns:a="http://schemas.openxmlformats.org/drawingml/2006/main">
              <a:ext uri="{FF2B5EF4-FFF2-40B4-BE49-F238E27FC236}">
                <a16:creationId xmlns:a16="http://schemas.microsoft.com/office/drawing/2014/main" id="{D2C11AF6-0D74-40EA-9693-6EC3E2A4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193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评价并提出新问题</a:t>
            </a:r>
          </a:p>
        </p:txBody>
      </p:sp>
      <p:sp>
        <p:nvSpPr>
          <p:cNvPr id="30" name="shape-127">
            <a:extLst xmlns:a="http://schemas.openxmlformats.org/drawingml/2006/main">
              <a:ext uri="{FF2B5EF4-FFF2-40B4-BE49-F238E27FC236}">
                <a16:creationId xmlns:a16="http://schemas.microsoft.com/office/drawing/2014/main" id="{95AE1150-E253-4E5E-898C-1C106A6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81650"/>
            <a:ext cx="109347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hape-128">
            <a:extLst xmlns:a="http://schemas.openxmlformats.org/drawingml/2006/main">
              <a:ext uri="{FF2B5EF4-FFF2-40B4-BE49-F238E27FC236}">
                <a16:creationId xmlns:a16="http://schemas.microsoft.com/office/drawing/2014/main" id="{C07F1851-6C52-448E-90D7-0EC4D857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阶段目标  →  对话与追问  →  按需生成草案  →  确认推进 / 回退修改</a:t>
            </a:r>
          </a:p>
        </p:txBody>
      </p:sp>
    </p:spTree>
    <p:extLst>
      <p:ext uri="{BB962C8B-B14F-4D97-AF65-F5344CB8AC3E}">
        <p14:creationId xmlns:p14="http://schemas.microsoft.com/office/powerpoint/2010/main" val="499790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hape-129">
            <a:extLst xmlns:a="http://schemas.openxmlformats.org/drawingml/2006/main">
              <a:ext uri="{FF2B5EF4-FFF2-40B4-BE49-F238E27FC236}">
                <a16:creationId xmlns:a16="http://schemas.microsoft.com/office/drawing/2014/main" id="{53D42880-6B8B-4CF2-A33F-2AA13F19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关键教学判断，始终留在教师手中</a:t>
            </a:r>
          </a:p>
        </p:txBody>
      </p:sp>
      <p:sp>
        <p:nvSpPr>
          <p:cNvPr id="2" name="shape-130">
            <a:extLst xmlns:a="http://schemas.openxmlformats.org/drawingml/2006/main">
              <a:ext uri="{FF2B5EF4-FFF2-40B4-BE49-F238E27FC236}">
                <a16:creationId xmlns:a16="http://schemas.microsoft.com/office/drawing/2014/main" id="{69B4C80C-D245-4F9A-857D-C7FE56D5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AI 负责整理、建议与生成，教师决定内容是否适用</a:t>
            </a:r>
          </a:p>
        </p:txBody>
      </p:sp>
      <p:sp>
        <p:nvSpPr>
          <p:cNvPr id="3" name="shape-131">
            <a:extLst xmlns:a="http://schemas.openxmlformats.org/drawingml/2006/main">
              <a:ext uri="{FF2B5EF4-FFF2-40B4-BE49-F238E27FC236}">
                <a16:creationId xmlns:a16="http://schemas.microsoft.com/office/drawing/2014/main" id="{126FF7B0-8FFA-4A04-BBBE-575BC17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path-132">
            <a:extLst xmlns:a="http://schemas.openxmlformats.org/drawingml/2006/main">
              <a:ext uri="{FF2B5EF4-FFF2-40B4-BE49-F238E27FC236}">
                <a16:creationId xmlns:a16="http://schemas.microsoft.com/office/drawing/2014/main" id="{82CD4D62-B41B-4A0C-B53A-EE0B3BD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453" y="2143265"/>
            <a:ext cx="4114722" cy="3276444"/>
          </a:xfrm>
          <a:custGeom xmlns:a="http://schemas.openxmlformats.org/drawingml/2006/main">
            <a:pathLst>
              <a:path w="4114722" h="3276444">
                <a:moveTo>
                  <a:pt x="4114722" y="1638160"/>
                </a:moveTo>
                <a:lnTo>
                  <a:pt x="4104870" y="1798296"/>
                </a:lnTo>
                <a:lnTo>
                  <a:pt x="4075408" y="1956900"/>
                </a:lnTo>
                <a:lnTo>
                  <a:pt x="4026619" y="2112450"/>
                </a:lnTo>
                <a:lnTo>
                  <a:pt x="3958969" y="2263458"/>
                </a:lnTo>
                <a:lnTo>
                  <a:pt x="3873107" y="2408478"/>
                </a:lnTo>
                <a:lnTo>
                  <a:pt x="3769855" y="2546120"/>
                </a:lnTo>
                <a:lnTo>
                  <a:pt x="3650202" y="2675067"/>
                </a:lnTo>
                <a:lnTo>
                  <a:pt x="3515294" y="2794083"/>
                </a:lnTo>
                <a:lnTo>
                  <a:pt x="3366422" y="2902028"/>
                </a:lnTo>
                <a:lnTo>
                  <a:pt x="3205013" y="2997869"/>
                </a:lnTo>
                <a:lnTo>
                  <a:pt x="3032612" y="3080688"/>
                </a:lnTo>
                <a:lnTo>
                  <a:pt x="2850871" y="3149692"/>
                </a:lnTo>
                <a:lnTo>
                  <a:pt x="2661529" y="3204219"/>
                </a:lnTo>
                <a:lnTo>
                  <a:pt x="2466402" y="3243748"/>
                </a:lnTo>
                <a:lnTo>
                  <a:pt x="2267356" y="3267900"/>
                </a:lnTo>
                <a:lnTo>
                  <a:pt x="2066299" y="3276444"/>
                </a:lnTo>
                <a:lnTo>
                  <a:pt x="1865156" y="3269298"/>
                </a:lnTo>
                <a:lnTo>
                  <a:pt x="1665853" y="3246530"/>
                </a:lnTo>
                <a:lnTo>
                  <a:pt x="1470299" y="3208358"/>
                </a:lnTo>
                <a:lnTo>
                  <a:pt x="1280368" y="3155148"/>
                </a:lnTo>
                <a:lnTo>
                  <a:pt x="1097877" y="3087410"/>
                </a:lnTo>
                <a:lnTo>
                  <a:pt x="924575" y="3005793"/>
                </a:lnTo>
                <a:lnTo>
                  <a:pt x="762122" y="2911077"/>
                </a:lnTo>
                <a:lnTo>
                  <a:pt x="612073" y="2804170"/>
                </a:lnTo>
                <a:lnTo>
                  <a:pt x="475865" y="2686096"/>
                </a:lnTo>
                <a:lnTo>
                  <a:pt x="354804" y="2557986"/>
                </a:lnTo>
                <a:lnTo>
                  <a:pt x="250047" y="2421066"/>
                </a:lnTo>
                <a:lnTo>
                  <a:pt x="162599" y="2276649"/>
                </a:lnTo>
                <a:lnTo>
                  <a:pt x="93297" y="2126117"/>
                </a:lnTo>
                <a:lnTo>
                  <a:pt x="42805" y="1970911"/>
                </a:lnTo>
                <a:lnTo>
                  <a:pt x="11607" y="1812519"/>
                </a:lnTo>
                <a:lnTo>
                  <a:pt x="0" y="1652456"/>
                </a:lnTo>
                <a:lnTo>
                  <a:pt x="8097" y="1492257"/>
                </a:lnTo>
                <a:lnTo>
                  <a:pt x="35819" y="1333455"/>
                </a:lnTo>
                <a:lnTo>
                  <a:pt x="82902" y="1177572"/>
                </a:lnTo>
                <a:lnTo>
                  <a:pt x="148894" y="1026099"/>
                </a:lnTo>
                <a:lnTo>
                  <a:pt x="233163" y="880488"/>
                </a:lnTo>
                <a:lnTo>
                  <a:pt x="334903" y="742134"/>
                </a:lnTo>
                <a:lnTo>
                  <a:pt x="453139" y="612361"/>
                </a:lnTo>
                <a:lnTo>
                  <a:pt x="586738" y="492412"/>
                </a:lnTo>
                <a:lnTo>
                  <a:pt x="734421" y="383436"/>
                </a:lnTo>
                <a:lnTo>
                  <a:pt x="894773" y="286477"/>
                </a:lnTo>
                <a:lnTo>
                  <a:pt x="1066260" y="202463"/>
                </a:lnTo>
                <a:lnTo>
                  <a:pt x="1247238" y="132199"/>
                </a:lnTo>
                <a:lnTo>
                  <a:pt x="1435975" y="76358"/>
                </a:lnTo>
                <a:lnTo>
                  <a:pt x="1630662" y="35475"/>
                </a:lnTo>
                <a:lnTo>
                  <a:pt x="1829435" y="9941"/>
                </a:lnTo>
                <a:lnTo>
                  <a:pt x="2030391" y="0"/>
                </a:lnTo>
                <a:lnTo>
                  <a:pt x="2231605" y="5748"/>
                </a:lnTo>
                <a:lnTo>
                  <a:pt x="2431150" y="27131"/>
                </a:lnTo>
                <a:lnTo>
                  <a:pt x="2627114" y="63942"/>
                </a:lnTo>
                <a:lnTo>
                  <a:pt x="2817622" y="115830"/>
                </a:lnTo>
                <a:lnTo>
                  <a:pt x="3000848" y="182297"/>
                </a:lnTo>
                <a:lnTo>
                  <a:pt x="3175037" y="262707"/>
                </a:lnTo>
                <a:lnTo>
                  <a:pt x="3338522" y="356291"/>
                </a:lnTo>
                <a:lnTo>
                  <a:pt x="3489737" y="462151"/>
                </a:lnTo>
                <a:lnTo>
                  <a:pt x="3627234" y="579274"/>
                </a:lnTo>
                <a:lnTo>
                  <a:pt x="3749695" y="706538"/>
                </a:lnTo>
                <a:lnTo>
                  <a:pt x="3855948" y="842724"/>
                </a:lnTo>
                <a:lnTo>
                  <a:pt x="3944975" y="986528"/>
                </a:lnTo>
                <a:lnTo>
                  <a:pt x="4015924" y="1136573"/>
                </a:lnTo>
                <a:lnTo>
                  <a:pt x="4068115" y="1291422"/>
                </a:lnTo>
                <a:lnTo>
                  <a:pt x="4101048" y="1449592"/>
                </a:lnTo>
                <a:lnTo>
                  <a:pt x="4114408" y="1609567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6D9D0"/>
            </a:solidFill>
            <a:prstDash val="solid"/>
          </a:ln>
        </p:spPr>
      </p:sp>
      <p:sp>
        <p:nvSpPr>
          <p:cNvPr id="5" name="shape-133">
            <a:extLst xmlns:a="http://schemas.openxmlformats.org/drawingml/2006/main">
              <a:ext uri="{FF2B5EF4-FFF2-40B4-BE49-F238E27FC236}">
                <a16:creationId xmlns:a16="http://schemas.microsoft.com/office/drawing/2014/main" id="{2303B9D8-468A-43DC-9EB3-ED45B038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05125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-134">
            <a:extLst xmlns:a="http://schemas.openxmlformats.org/drawingml/2006/main">
              <a:ext uri="{FF2B5EF4-FFF2-40B4-BE49-F238E27FC236}">
                <a16:creationId xmlns:a16="http://schemas.microsoft.com/office/drawing/2014/main" id="{5803C8D5-2444-4580-96E5-3735D562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31470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7" name="shape-135">
            <a:extLst xmlns:a="http://schemas.openxmlformats.org/drawingml/2006/main">
              <a:ext uri="{FF2B5EF4-FFF2-40B4-BE49-F238E27FC236}">
                <a16:creationId xmlns:a16="http://schemas.microsoft.com/office/drawing/2014/main" id="{1ADD73D5-5BFF-4AE6-A37D-9AD89F08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最终判断</a:t>
            </a:r>
          </a:p>
        </p:txBody>
      </p:sp>
      <p:sp>
        <p:nvSpPr>
          <p:cNvPr id="8" name="shape-136">
            <a:extLst xmlns:a="http://schemas.openxmlformats.org/drawingml/2006/main">
              <a:ext uri="{FF2B5EF4-FFF2-40B4-BE49-F238E27FC236}">
                <a16:creationId xmlns:a16="http://schemas.microsoft.com/office/drawing/2014/main" id="{558D1A69-970D-4281-92A6-FF23184A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38325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137">
            <a:extLst xmlns:a="http://schemas.openxmlformats.org/drawingml/2006/main">
              <a:ext uri="{FF2B5EF4-FFF2-40B4-BE49-F238E27FC236}">
                <a16:creationId xmlns:a16="http://schemas.microsoft.com/office/drawing/2014/main" id="{F95748FE-87E8-4176-8699-AC127CDB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859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设定目标</a:t>
            </a:r>
          </a:p>
        </p:txBody>
      </p:sp>
      <p:sp>
        <p:nvSpPr>
          <p:cNvPr id="10" name="shape-138">
            <a:extLst xmlns:a="http://schemas.openxmlformats.org/drawingml/2006/main">
              <a:ext uri="{FF2B5EF4-FFF2-40B4-BE49-F238E27FC236}">
                <a16:creationId xmlns:a16="http://schemas.microsoft.com/office/drawing/2014/main" id="{705D4096-68EE-40FC-9546-4D73025E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14625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hape-139">
            <a:extLst xmlns:a="http://schemas.openxmlformats.org/drawingml/2006/main">
              <a:ext uri="{FF2B5EF4-FFF2-40B4-BE49-F238E27FC236}">
                <a16:creationId xmlns:a16="http://schemas.microsoft.com/office/drawing/2014/main" id="{5E4A77EC-8EFC-4D60-83DF-055ED52C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62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AI 建议</a:t>
            </a:r>
          </a:p>
        </p:txBody>
      </p:sp>
      <p:sp>
        <p:nvSpPr>
          <p:cNvPr id="12" name="shape-140">
            <a:extLst xmlns:a="http://schemas.openxmlformats.org/drawingml/2006/main">
              <a:ext uri="{FF2B5EF4-FFF2-40B4-BE49-F238E27FC236}">
                <a16:creationId xmlns:a16="http://schemas.microsoft.com/office/drawing/2014/main" id="{C3237173-B2AD-466F-BF98-AA6FBB66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295775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-141">
            <a:extLst xmlns:a="http://schemas.openxmlformats.org/drawingml/2006/main">
              <a:ext uri="{FF2B5EF4-FFF2-40B4-BE49-F238E27FC236}">
                <a16:creationId xmlns:a16="http://schemas.microsoft.com/office/drawing/2014/main" id="{DE98A2DD-B7DD-4A7A-9059-BF379D7E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3434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生成草案</a:t>
            </a:r>
          </a:p>
        </p:txBody>
      </p:sp>
      <p:sp>
        <p:nvSpPr>
          <p:cNvPr id="14" name="shape-142">
            <a:extLst xmlns:a="http://schemas.openxmlformats.org/drawingml/2006/main">
              <a:ext uri="{FF2B5EF4-FFF2-40B4-BE49-F238E27FC236}">
                <a16:creationId xmlns:a16="http://schemas.microsoft.com/office/drawing/2014/main" id="{9A11B22D-E753-490E-8047-43192CCA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1816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hape-143">
            <a:extLst xmlns:a="http://schemas.openxmlformats.org/drawingml/2006/main">
              <a:ext uri="{FF2B5EF4-FFF2-40B4-BE49-F238E27FC236}">
                <a16:creationId xmlns:a16="http://schemas.microsoft.com/office/drawing/2014/main" id="{5314FDF3-B862-427B-93B8-4D5407EC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22922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审阅修改</a:t>
            </a:r>
          </a:p>
        </p:txBody>
      </p:sp>
      <p:sp>
        <p:nvSpPr>
          <p:cNvPr id="16" name="shape-144">
            <a:extLst xmlns:a="http://schemas.openxmlformats.org/drawingml/2006/main">
              <a:ext uri="{FF2B5EF4-FFF2-40B4-BE49-F238E27FC236}">
                <a16:creationId xmlns:a16="http://schemas.microsoft.com/office/drawing/2014/main" id="{018C99E9-BDFE-410E-A6F8-DD9DCB5E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145">
            <a:extLst xmlns:a="http://schemas.openxmlformats.org/drawingml/2006/main">
              <a:ext uri="{FF2B5EF4-FFF2-40B4-BE49-F238E27FC236}">
                <a16:creationId xmlns:a16="http://schemas.microsoft.com/office/drawing/2014/main" id="{55AD3BDF-ACAF-4D1E-8C71-472D94D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434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确认推进</a:t>
            </a:r>
          </a:p>
        </p:txBody>
      </p:sp>
      <p:sp>
        <p:nvSpPr>
          <p:cNvPr id="18" name="shape-146">
            <a:extLst xmlns:a="http://schemas.openxmlformats.org/drawingml/2006/main">
              <a:ext uri="{FF2B5EF4-FFF2-40B4-BE49-F238E27FC236}">
                <a16:creationId xmlns:a16="http://schemas.microsoft.com/office/drawing/2014/main" id="{88D1AFC8-B843-4EEA-9F59-80A50CD0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-147">
            <a:extLst xmlns:a="http://schemas.openxmlformats.org/drawingml/2006/main">
              <a:ext uri="{FF2B5EF4-FFF2-40B4-BE49-F238E27FC236}">
                <a16:creationId xmlns:a16="http://schemas.microsoft.com/office/drawing/2014/main" id="{89D6D395-D706-4159-A51D-39592B0B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继续追问</a:t>
            </a:r>
          </a:p>
        </p:txBody>
      </p:sp>
      <p:sp>
        <p:nvSpPr>
          <p:cNvPr id="20" name="path-148">
            <a:extLst xmlns:a="http://schemas.openxmlformats.org/drawingml/2006/main">
              <a:ext uri="{FF2B5EF4-FFF2-40B4-BE49-F238E27FC236}">
                <a16:creationId xmlns:a16="http://schemas.microsoft.com/office/drawing/2014/main" id="{C4BE9401-E829-41B3-A592-B6A9131D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0275"/>
            <a:ext cx="304800" cy="133350"/>
          </a:xfrm>
          <a:custGeom xmlns:a="http://schemas.openxmlformats.org/drawingml/2006/main">
            <a:pathLst>
              <a:path w="304800" h="133350">
                <a:moveTo>
                  <a:pt x="0" y="0"/>
                </a:moveTo>
                <a:lnTo>
                  <a:pt x="3048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1" name="path-149">
            <a:extLst xmlns:a="http://schemas.openxmlformats.org/drawingml/2006/main">
              <a:ext uri="{FF2B5EF4-FFF2-40B4-BE49-F238E27FC236}">
                <a16:creationId xmlns:a16="http://schemas.microsoft.com/office/drawing/2014/main" id="{E738CF2B-FC8F-444D-88E9-0DE1A09E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885" y="2263281"/>
            <a:ext cx="84915" cy="82101"/>
          </a:xfrm>
          <a:custGeom xmlns:a="http://schemas.openxmlformats.org/drawingml/2006/main">
            <a:pathLst>
              <a:path w="84915" h="82101">
                <a:moveTo>
                  <a:pt x="0" y="82101"/>
                </a:moveTo>
                <a:lnTo>
                  <a:pt x="84915" y="70344"/>
                </a:lnTo>
                <a:lnTo>
                  <a:pt x="359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2" name="path-150">
            <a:extLst xmlns:a="http://schemas.openxmlformats.org/drawingml/2006/main">
              <a:ext uri="{FF2B5EF4-FFF2-40B4-BE49-F238E27FC236}">
                <a16:creationId xmlns:a16="http://schemas.microsoft.com/office/drawing/2014/main" id="{4183BFB5-5D1D-4114-B4E7-C4C6BB61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9525" cy="323850"/>
          </a:xfrm>
          <a:custGeom xmlns:a="http://schemas.openxmlformats.org/drawingml/2006/main"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3" name="path-151">
            <a:extLst xmlns:a="http://schemas.openxmlformats.org/drawingml/2006/main">
              <a:ext uri="{FF2B5EF4-FFF2-40B4-BE49-F238E27FC236}">
                <a16:creationId xmlns:a16="http://schemas.microsoft.com/office/drawing/2014/main" id="{B37AD659-2EA1-4123-A4C4-2A49741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9318" y="3841692"/>
            <a:ext cx="89615" cy="73083"/>
          </a:xfrm>
          <a:custGeom xmlns:a="http://schemas.openxmlformats.org/drawingml/2006/main">
            <a:pathLst>
              <a:path w="89615" h="73083">
                <a:moveTo>
                  <a:pt x="0" y="0"/>
                </a:moveTo>
                <a:lnTo>
                  <a:pt x="44807" y="73083"/>
                </a:lnTo>
                <a:lnTo>
                  <a:pt x="89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4" name="path-152">
            <a:extLst xmlns:a="http://schemas.openxmlformats.org/drawingml/2006/main">
              <a:ext uri="{FF2B5EF4-FFF2-40B4-BE49-F238E27FC236}">
                <a16:creationId xmlns:a16="http://schemas.microsoft.com/office/drawing/2014/main" id="{3130D25F-043D-4A41-89C1-64AA51CF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76850"/>
            <a:ext cx="314325" cy="133350"/>
          </a:xfrm>
          <a:custGeom xmlns:a="http://schemas.openxmlformats.org/drawingml/2006/main">
            <a:pathLst>
              <a:path w="314325" h="133350">
                <a:moveTo>
                  <a:pt x="314325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5" name="path-153">
            <a:extLst xmlns:a="http://schemas.openxmlformats.org/drawingml/2006/main">
              <a:ext uri="{FF2B5EF4-FFF2-40B4-BE49-F238E27FC236}">
                <a16:creationId xmlns:a16="http://schemas.microsoft.com/office/drawing/2014/main" id="{1F72629B-34AE-49B9-BFC8-37623CE0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340409"/>
            <a:ext cx="84778" cy="82498"/>
          </a:xfrm>
          <a:custGeom xmlns:a="http://schemas.openxmlformats.org/drawingml/2006/main">
            <a:pathLst>
              <a:path w="84778" h="82498">
                <a:moveTo>
                  <a:pt x="49779" y="0"/>
                </a:moveTo>
                <a:lnTo>
                  <a:pt x="0" y="69791"/>
                </a:lnTo>
                <a:lnTo>
                  <a:pt x="84778" y="82498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6" name="path-154">
            <a:extLst xmlns:a="http://schemas.openxmlformats.org/drawingml/2006/main">
              <a:ext uri="{FF2B5EF4-FFF2-40B4-BE49-F238E27FC236}">
                <a16:creationId xmlns:a16="http://schemas.microsoft.com/office/drawing/2014/main" id="{3B545E43-3894-430F-AA9A-35094A06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76850"/>
            <a:ext cx="314325" cy="133350"/>
          </a:xfrm>
          <a:custGeom xmlns:a="http://schemas.openxmlformats.org/drawingml/2006/main">
            <a:pathLst>
              <a:path w="314325" h="133350">
                <a:moveTo>
                  <a:pt x="314325" y="133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7" name="path-155">
            <a:extLst xmlns:a="http://schemas.openxmlformats.org/drawingml/2006/main">
              <a:ext uri="{FF2B5EF4-FFF2-40B4-BE49-F238E27FC236}">
                <a16:creationId xmlns:a16="http://schemas.microsoft.com/office/drawing/2014/main" id="{BF0D57A9-B6C2-491A-B5CB-6FD6CE11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64144"/>
            <a:ext cx="84778" cy="82498"/>
          </a:xfrm>
          <a:custGeom xmlns:a="http://schemas.openxmlformats.org/drawingml/2006/main">
            <a:pathLst>
              <a:path w="84778" h="82498">
                <a:moveTo>
                  <a:pt x="84778" y="0"/>
                </a:moveTo>
                <a:lnTo>
                  <a:pt x="0" y="12706"/>
                </a:lnTo>
                <a:lnTo>
                  <a:pt x="49779" y="82498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8" name="path-156">
            <a:extLst xmlns:a="http://schemas.openxmlformats.org/drawingml/2006/main">
              <a:ext uri="{FF2B5EF4-FFF2-40B4-BE49-F238E27FC236}">
                <a16:creationId xmlns:a16="http://schemas.microsoft.com/office/drawing/2014/main" id="{F3FADB17-36B9-4458-A464-83BD9938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90925"/>
            <a:ext cx="9525" cy="323850"/>
          </a:xfrm>
          <a:custGeom xmlns:a="http://schemas.openxmlformats.org/drawingml/2006/main">
            <a:pathLst>
              <a:path w="9525" h="323850">
                <a:moveTo>
                  <a:pt x="0" y="323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9" name="path-157">
            <a:extLst xmlns:a="http://schemas.openxmlformats.org/drawingml/2006/main">
              <a:ext uri="{FF2B5EF4-FFF2-40B4-BE49-F238E27FC236}">
                <a16:creationId xmlns:a16="http://schemas.microsoft.com/office/drawing/2014/main" id="{4CC4EB8D-43FA-44F0-AC85-931FA2F0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43" y="3590925"/>
            <a:ext cx="89615" cy="73083"/>
          </a:xfrm>
          <a:custGeom xmlns:a="http://schemas.openxmlformats.org/drawingml/2006/main">
            <a:pathLst>
              <a:path w="89615" h="73083">
                <a:moveTo>
                  <a:pt x="89615" y="73083"/>
                </a:moveTo>
                <a:lnTo>
                  <a:pt x="44807" y="0"/>
                </a:lnTo>
                <a:lnTo>
                  <a:pt x="0" y="730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0" name="path-158">
            <a:extLst xmlns:a="http://schemas.openxmlformats.org/drawingml/2006/main">
              <a:ext uri="{FF2B5EF4-FFF2-40B4-BE49-F238E27FC236}">
                <a16:creationId xmlns:a16="http://schemas.microsoft.com/office/drawing/2014/main" id="{B5C3F948-7335-4DF0-BC5F-937C2206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00275"/>
            <a:ext cx="323850" cy="133350"/>
          </a:xfrm>
          <a:custGeom xmlns:a="http://schemas.openxmlformats.org/drawingml/2006/main">
            <a:pathLst>
              <a:path w="323850" h="133350">
                <a:moveTo>
                  <a:pt x="0" y="13335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1" name="path-159">
            <a:extLst xmlns:a="http://schemas.openxmlformats.org/drawingml/2006/main">
              <a:ext uri="{FF2B5EF4-FFF2-40B4-BE49-F238E27FC236}">
                <a16:creationId xmlns:a16="http://schemas.microsoft.com/office/drawing/2014/main" id="{F13ECF22-9787-4F89-A026-A5ECFDC5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4387" y="2186669"/>
            <a:ext cx="84638" cy="82865"/>
          </a:xfrm>
          <a:custGeom xmlns:a="http://schemas.openxmlformats.org/drawingml/2006/main">
            <a:pathLst>
              <a:path w="84638" h="82865">
                <a:moveTo>
                  <a:pt x="34121" y="82865"/>
                </a:moveTo>
                <a:lnTo>
                  <a:pt x="84638" y="1360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2" name="path-160">
            <a:extLst xmlns:a="http://schemas.openxmlformats.org/drawingml/2006/main">
              <a:ext uri="{FF2B5EF4-FFF2-40B4-BE49-F238E27FC236}">
                <a16:creationId xmlns:a16="http://schemas.microsoft.com/office/drawing/2014/main" id="{DF182B4E-6F1E-47F4-BB64-A44101B4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66950"/>
            <a:ext cx="9525" cy="3305175"/>
          </a:xfrm>
          <a:custGeom xmlns:a="http://schemas.openxmlformats.org/drawingml/2006/main">
            <a:pathLst>
              <a:path w="9525" h="3305175">
                <a:moveTo>
                  <a:pt x="0" y="0"/>
                </a:moveTo>
                <a:lnTo>
                  <a:pt x="0" y="3305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6D9D0"/>
            </a:solidFill>
            <a:prstDash val="solid"/>
          </a:ln>
        </p:spPr>
      </p:sp>
      <p:sp>
        <p:nvSpPr>
          <p:cNvPr id="33" name="shape-161">
            <a:extLst xmlns:a="http://schemas.openxmlformats.org/drawingml/2006/main">
              <a:ext uri="{FF2B5EF4-FFF2-40B4-BE49-F238E27FC236}">
                <a16:creationId xmlns:a16="http://schemas.microsoft.com/office/drawing/2014/main" id="{B06E38CE-D1C2-4969-8CC9-D98B6FC9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2480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三处明确的控制点</a:t>
            </a:r>
          </a:p>
        </p:txBody>
      </p:sp>
      <p:sp>
        <p:nvSpPr>
          <p:cNvPr id="34" name="shape-162">
            <a:extLst xmlns:a="http://schemas.openxmlformats.org/drawingml/2006/main">
              <a:ext uri="{FF2B5EF4-FFF2-40B4-BE49-F238E27FC236}">
                <a16:creationId xmlns:a16="http://schemas.microsoft.com/office/drawing/2014/main" id="{F6754DF2-FC9A-43FF-8BED-EAB86C6B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0375"/>
            <a:ext cx="33242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选择本轮专家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接受或拒绝草案修改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推进阶段或回退重做</a:t>
            </a:r>
          </a:p>
        </p:txBody>
      </p:sp>
    </p:spTree>
    <p:extLst>
      <p:ext uri="{BB962C8B-B14F-4D97-AF65-F5344CB8AC3E}">
        <p14:creationId xmlns:p14="http://schemas.microsoft.com/office/powerpoint/2010/main" val="1399952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63">
            <a:extLst xmlns:a="http://schemas.openxmlformats.org/drawingml/2006/main">
              <a:ext uri="{FF2B5EF4-FFF2-40B4-BE49-F238E27FC236}">
                <a16:creationId xmlns:a16="http://schemas.microsoft.com/office/drawing/2014/main" id="{EFBD2055-C9FF-4F2E-85CA-FA1E718E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主导师管流程，专家回答本轮专业问题</a:t>
            </a:r>
          </a:p>
        </p:txBody>
      </p:sp>
      <p:sp>
        <p:nvSpPr>
          <p:cNvPr id="2" name="shape-164">
            <a:extLst xmlns:a="http://schemas.openxmlformats.org/drawingml/2006/main">
              <a:ext uri="{FF2B5EF4-FFF2-40B4-BE49-F238E27FC236}">
                <a16:creationId xmlns:a16="http://schemas.microsoft.com/office/drawing/2014/main" id="{A252C2CC-F0D3-4526-BCF1-FFF067F5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教师按需选择一位专家；下一轮未再次选择时回到主导师</a:t>
            </a:r>
          </a:p>
        </p:txBody>
      </p:sp>
      <p:sp>
        <p:nvSpPr>
          <p:cNvPr id="3" name="shape-165">
            <a:extLst xmlns:a="http://schemas.openxmlformats.org/drawingml/2006/main">
              <a:ext uri="{FF2B5EF4-FFF2-40B4-BE49-F238E27FC236}">
                <a16:creationId xmlns:a16="http://schemas.microsoft.com/office/drawing/2014/main" id="{0C75573C-4BDC-44D9-ACA6-97682306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path-166">
            <a:extLst xmlns:a="http://schemas.openxmlformats.org/drawingml/2006/main">
              <a:ext uri="{FF2B5EF4-FFF2-40B4-BE49-F238E27FC236}">
                <a16:creationId xmlns:a16="http://schemas.microsoft.com/office/drawing/2014/main" id="{868873E5-F480-4C13-BBFB-30277369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0300"/>
            <a:ext cx="2114550" cy="1323975"/>
          </a:xfrm>
          <a:custGeom xmlns:a="http://schemas.openxmlformats.org/drawingml/2006/main">
            <a:pathLst>
              <a:path w="2114550" h="1323975">
                <a:moveTo>
                  <a:pt x="2114550" y="1323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6D9D0"/>
            </a:solidFill>
            <a:prstDash val="solid"/>
          </a:ln>
        </p:spPr>
      </p:sp>
      <p:sp>
        <p:nvSpPr>
          <p:cNvPr id="5" name="path-167">
            <a:extLst xmlns:a="http://schemas.openxmlformats.org/drawingml/2006/main">
              <a:ext uri="{FF2B5EF4-FFF2-40B4-BE49-F238E27FC236}">
                <a16:creationId xmlns:a16="http://schemas.microsoft.com/office/drawing/2014/main" id="{04191AF7-D1CE-4F7B-98CD-7752CE9A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00300"/>
            <a:ext cx="2009775" cy="1323975"/>
          </a:xfrm>
          <a:custGeom xmlns:a="http://schemas.openxmlformats.org/drawingml/2006/main">
            <a:pathLst>
              <a:path w="2009775" h="1323975">
                <a:moveTo>
                  <a:pt x="0" y="1323975"/>
                </a:moveTo>
                <a:lnTo>
                  <a:pt x="2009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6D9D0"/>
            </a:solidFill>
            <a:prstDash val="solid"/>
          </a:ln>
        </p:spPr>
      </p:sp>
      <p:sp>
        <p:nvSpPr>
          <p:cNvPr id="6" name="path-168">
            <a:extLst xmlns:a="http://schemas.openxmlformats.org/drawingml/2006/main">
              <a:ext uri="{FF2B5EF4-FFF2-40B4-BE49-F238E27FC236}">
                <a16:creationId xmlns:a16="http://schemas.microsoft.com/office/drawing/2014/main" id="{C92CD787-CBC2-45A3-98AB-0804A901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24275"/>
            <a:ext cx="2714625" cy="323850"/>
          </a:xfrm>
          <a:custGeom xmlns:a="http://schemas.openxmlformats.org/drawingml/2006/main">
            <a:pathLst>
              <a:path w="2714625" h="323850">
                <a:moveTo>
                  <a:pt x="0" y="0"/>
                </a:moveTo>
                <a:lnTo>
                  <a:pt x="271462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6D9D0"/>
            </a:solidFill>
            <a:prstDash val="solid"/>
          </a:ln>
        </p:spPr>
      </p:sp>
      <p:sp>
        <p:nvSpPr>
          <p:cNvPr id="7" name="path-169">
            <a:extLst xmlns:a="http://schemas.openxmlformats.org/drawingml/2006/main">
              <a:ext uri="{FF2B5EF4-FFF2-40B4-BE49-F238E27FC236}">
                <a16:creationId xmlns:a16="http://schemas.microsoft.com/office/drawing/2014/main" id="{BB794C7D-76E9-4B48-BDB8-77CBCD7D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24275"/>
            <a:ext cx="1266825" cy="1657350"/>
          </a:xfrm>
          <a:custGeom xmlns:a="http://schemas.openxmlformats.org/drawingml/2006/main">
            <a:pathLst>
              <a:path w="1266825" h="1657350">
                <a:moveTo>
                  <a:pt x="0" y="0"/>
                </a:moveTo>
                <a:lnTo>
                  <a:pt x="1266825" y="1657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6D9D0"/>
            </a:solidFill>
            <a:prstDash val="solid"/>
          </a:ln>
        </p:spPr>
      </p:sp>
      <p:sp>
        <p:nvSpPr>
          <p:cNvPr id="8" name="path-170">
            <a:extLst xmlns:a="http://schemas.openxmlformats.org/drawingml/2006/main">
              <a:ext uri="{FF2B5EF4-FFF2-40B4-BE49-F238E27FC236}">
                <a16:creationId xmlns:a16="http://schemas.microsoft.com/office/drawing/2014/main" id="{1CE22EA6-A653-4355-8D2F-193BB0B5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24275"/>
            <a:ext cx="1466850" cy="1657350"/>
          </a:xfrm>
          <a:custGeom xmlns:a="http://schemas.openxmlformats.org/drawingml/2006/main">
            <a:pathLst>
              <a:path w="1466850" h="1657350">
                <a:moveTo>
                  <a:pt x="1466850" y="0"/>
                </a:moveTo>
                <a:lnTo>
                  <a:pt x="0" y="16573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6D9D0"/>
            </a:solidFill>
            <a:prstDash val="solid"/>
          </a:ln>
        </p:spPr>
      </p:sp>
      <p:sp>
        <p:nvSpPr>
          <p:cNvPr id="9" name="shape-171">
            <a:extLst xmlns:a="http://schemas.openxmlformats.org/drawingml/2006/main">
              <a:ext uri="{FF2B5EF4-FFF2-40B4-BE49-F238E27FC236}">
                <a16:creationId xmlns:a16="http://schemas.microsoft.com/office/drawing/2014/main" id="{EA2F658C-622A-42F3-8886-90C583AC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57500"/>
            <a:ext cx="1885950" cy="1885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0" name="shape-172">
            <a:extLst xmlns:a="http://schemas.openxmlformats.org/drawingml/2006/main">
              <a:ext uri="{FF2B5EF4-FFF2-40B4-BE49-F238E27FC236}">
                <a16:creationId xmlns:a16="http://schemas.microsoft.com/office/drawing/2014/main" id="{57E6AD81-EF72-4D6E-93F0-DCE8F886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05175"/>
            <a:ext cx="1790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Main Tutor</a:t>
            </a:r>
          </a:p>
        </p:txBody>
      </p:sp>
      <p:sp>
        <p:nvSpPr>
          <p:cNvPr id="11" name="shape-173">
            <a:extLst xmlns:a="http://schemas.openxmlformats.org/drawingml/2006/main">
              <a:ext uri="{FF2B5EF4-FFF2-40B4-BE49-F238E27FC236}">
                <a16:creationId xmlns:a16="http://schemas.microsoft.com/office/drawing/2014/main" id="{F8655994-E59B-4499-8557-C7B240EF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38575"/>
            <a:ext cx="200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维护主流程与上下文</a:t>
            </a:r>
          </a:p>
        </p:txBody>
      </p:sp>
      <p:sp>
        <p:nvSpPr>
          <p:cNvPr id="12" name="shape-174">
            <a:extLst xmlns:a="http://schemas.openxmlformats.org/drawingml/2006/main">
              <a:ext uri="{FF2B5EF4-FFF2-40B4-BE49-F238E27FC236}">
                <a16:creationId xmlns:a16="http://schemas.microsoft.com/office/drawing/2014/main" id="{5C83FEF4-F57E-4C85-8283-C75E4B44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24075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13" name="shape-175">
            <a:extLst xmlns:a="http://schemas.openxmlformats.org/drawingml/2006/main">
              <a:ext uri="{FF2B5EF4-FFF2-40B4-BE49-F238E27FC236}">
                <a16:creationId xmlns:a16="http://schemas.microsoft.com/office/drawing/2014/main" id="{8EAA643B-CE4B-49EF-B25A-68C62327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8122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昆虫专家</a:t>
            </a:r>
          </a:p>
        </p:txBody>
      </p:sp>
      <p:sp>
        <p:nvSpPr>
          <p:cNvPr id="14" name="shape-176">
            <a:extLst xmlns:a="http://schemas.openxmlformats.org/drawingml/2006/main">
              <a:ext uri="{FF2B5EF4-FFF2-40B4-BE49-F238E27FC236}">
                <a16:creationId xmlns:a16="http://schemas.microsoft.com/office/drawing/2014/main" id="{56A6DFA1-599E-481A-90DF-AB69343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24075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15" name="shape-177">
            <a:extLst xmlns:a="http://schemas.openxmlformats.org/drawingml/2006/main">
              <a:ext uri="{FF2B5EF4-FFF2-40B4-BE49-F238E27FC236}">
                <a16:creationId xmlns:a16="http://schemas.microsoft.com/office/drawing/2014/main" id="{E0A2B09A-9A78-498B-A2CE-8F72AD9E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8122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自然生态专家</a:t>
            </a:r>
          </a:p>
        </p:txBody>
      </p:sp>
      <p:sp>
        <p:nvSpPr>
          <p:cNvPr id="16" name="shape-178">
            <a:extLst xmlns:a="http://schemas.openxmlformats.org/drawingml/2006/main">
              <a:ext uri="{FF2B5EF4-FFF2-40B4-BE49-F238E27FC236}">
                <a16:creationId xmlns:a16="http://schemas.microsoft.com/office/drawing/2014/main" id="{CD1C56A0-D09F-411F-ACF9-FD925F45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719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17" name="shape-179">
            <a:extLst xmlns:a="http://schemas.openxmlformats.org/drawingml/2006/main">
              <a:ext uri="{FF2B5EF4-FFF2-40B4-BE49-F238E27FC236}">
                <a16:creationId xmlns:a16="http://schemas.microsoft.com/office/drawing/2014/main" id="{20873912-95F8-45AD-8555-80A42EB6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290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物理探究专家</a:t>
            </a:r>
          </a:p>
        </p:txBody>
      </p:sp>
      <p:sp>
        <p:nvSpPr>
          <p:cNvPr id="18" name="shape-180">
            <a:extLst xmlns:a="http://schemas.openxmlformats.org/drawingml/2006/main">
              <a:ext uri="{FF2B5EF4-FFF2-40B4-BE49-F238E27FC236}">
                <a16:creationId xmlns:a16="http://schemas.microsoft.com/office/drawing/2014/main" id="{294EE847-B4F3-4AA0-BAE9-30C2EDDF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19" name="shape-181">
            <a:extLst xmlns:a="http://schemas.openxmlformats.org/drawingml/2006/main">
              <a:ext uri="{FF2B5EF4-FFF2-40B4-BE49-F238E27FC236}">
                <a16:creationId xmlns:a16="http://schemas.microsoft.com/office/drawing/2014/main" id="{75161AA2-00E7-48B2-84EA-C4FA02D0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1625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安全伦理专家</a:t>
            </a:r>
          </a:p>
        </p:txBody>
      </p:sp>
      <p:sp>
        <p:nvSpPr>
          <p:cNvPr id="20" name="shape-182">
            <a:extLst xmlns:a="http://schemas.openxmlformats.org/drawingml/2006/main">
              <a:ext uri="{FF2B5EF4-FFF2-40B4-BE49-F238E27FC236}">
                <a16:creationId xmlns:a16="http://schemas.microsoft.com/office/drawing/2014/main" id="{A17AEAEA-CD0F-4E52-AB31-76560D93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105400"/>
            <a:ext cx="201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21" name="shape-183">
            <a:extLst xmlns:a="http://schemas.openxmlformats.org/drawingml/2006/main">
              <a:ext uri="{FF2B5EF4-FFF2-40B4-BE49-F238E27FC236}">
                <a16:creationId xmlns:a16="http://schemas.microsoft.com/office/drawing/2014/main" id="{6A545564-5595-4DE8-85CA-130A17EB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6255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数学数据专家</a:t>
            </a:r>
          </a:p>
        </p:txBody>
      </p:sp>
      <p:sp>
        <p:nvSpPr>
          <p:cNvPr id="22" name="shape-184">
            <a:extLst xmlns:a="http://schemas.openxmlformats.org/drawingml/2006/main">
              <a:ext uri="{FF2B5EF4-FFF2-40B4-BE49-F238E27FC236}">
                <a16:creationId xmlns:a16="http://schemas.microsoft.com/office/drawing/2014/main" id="{12E9DA56-3969-41CC-A1AE-52970727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185">
            <a:extLst xmlns:a="http://schemas.openxmlformats.org/drawingml/2006/main">
              <a:ext uri="{FF2B5EF4-FFF2-40B4-BE49-F238E27FC236}">
                <a16:creationId xmlns:a16="http://schemas.microsoft.com/office/drawing/2014/main" id="{1C614F94-20C3-46F7-906B-0A41A0A4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14725"/>
            <a:ext cx="1028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24" name="path-186">
            <a:extLst xmlns:a="http://schemas.openxmlformats.org/drawingml/2006/main">
              <a:ext uri="{FF2B5EF4-FFF2-40B4-BE49-F238E27FC236}">
                <a16:creationId xmlns:a16="http://schemas.microsoft.com/office/drawing/2014/main" id="{0FC29909-49EE-4A00-B3B7-D4DA1D1E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14750"/>
            <a:ext cx="3048000" cy="9525"/>
          </a:xfrm>
          <a:custGeom xmlns:a="http://schemas.openxmlformats.org/drawingml/2006/main"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67B98"/>
            </a:solidFill>
            <a:prstDash val="solid"/>
          </a:ln>
        </p:spPr>
      </p:sp>
      <p:sp>
        <p:nvSpPr>
          <p:cNvPr id="25" name="path-187">
            <a:extLst xmlns:a="http://schemas.openxmlformats.org/drawingml/2006/main">
              <a:ext uri="{FF2B5EF4-FFF2-40B4-BE49-F238E27FC236}">
                <a16:creationId xmlns:a16="http://schemas.microsoft.com/office/drawing/2014/main" id="{4EFCEC8E-302F-4440-AE8A-45526278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392" y="3669943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67B98"/>
            </a:solidFill>
            <a:prstDash val="solid"/>
          </a:ln>
        </p:spPr>
      </p:sp>
      <p:sp>
        <p:nvSpPr>
          <p:cNvPr id="26" name="shape-188">
            <a:extLst xmlns:a="http://schemas.openxmlformats.org/drawingml/2006/main">
              <a:ext uri="{FF2B5EF4-FFF2-40B4-BE49-F238E27FC236}">
                <a16:creationId xmlns:a16="http://schemas.microsoft.com/office/drawing/2014/main" id="{821AABE2-16AD-4B59-B218-01025E19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38500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发起咨询 / 继续讨论</a:t>
            </a:r>
          </a:p>
        </p:txBody>
      </p:sp>
      <p:sp>
        <p:nvSpPr>
          <p:cNvPr id="27" name="shape-189">
            <a:extLst xmlns:a="http://schemas.openxmlformats.org/drawingml/2006/main">
              <a:ext uri="{FF2B5EF4-FFF2-40B4-BE49-F238E27FC236}">
                <a16:creationId xmlns:a16="http://schemas.microsoft.com/office/drawing/2014/main" id="{E7D3B6DA-FF17-4AA0-AFB2-D481CDC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hape-190">
            <a:extLst xmlns:a="http://schemas.openxmlformats.org/drawingml/2006/main">
              <a:ext uri="{FF2B5EF4-FFF2-40B4-BE49-F238E27FC236}">
                <a16:creationId xmlns:a16="http://schemas.microsoft.com/office/drawing/2014/main" id="{52E6FB0E-E65E-45CC-9BB7-D3C0DF6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266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课程知识 / RAG</a:t>
            </a:r>
          </a:p>
        </p:txBody>
      </p:sp>
      <p:sp>
        <p:nvSpPr>
          <p:cNvPr id="29" name="path-191">
            <a:extLst xmlns:a="http://schemas.openxmlformats.org/drawingml/2006/main">
              <a:ext uri="{FF2B5EF4-FFF2-40B4-BE49-F238E27FC236}">
                <a16:creationId xmlns:a16="http://schemas.microsoft.com/office/drawing/2014/main" id="{6BAC36C6-EF1B-448D-B39E-45B6EA8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28925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67B98"/>
            </a:solidFill>
            <a:prstDash val="solid"/>
          </a:ln>
        </p:spPr>
      </p:sp>
      <p:sp>
        <p:nvSpPr>
          <p:cNvPr id="30" name="path-192">
            <a:extLst xmlns:a="http://schemas.openxmlformats.org/drawingml/2006/main">
              <a:ext uri="{FF2B5EF4-FFF2-40B4-BE49-F238E27FC236}">
                <a16:creationId xmlns:a16="http://schemas.microsoft.com/office/drawing/2014/main" id="{150FC865-4315-437A-BB45-C60095F3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318" y="3479742"/>
            <a:ext cx="89615" cy="73083"/>
          </a:xfrm>
          <a:custGeom xmlns:a="http://schemas.openxmlformats.org/drawingml/2006/main">
            <a:pathLst>
              <a:path w="89615" h="73083">
                <a:moveTo>
                  <a:pt x="0" y="0"/>
                </a:moveTo>
                <a:lnTo>
                  <a:pt x="44807" y="73083"/>
                </a:lnTo>
                <a:lnTo>
                  <a:pt x="89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67B98"/>
            </a:solidFill>
            <a:prstDash val="solid"/>
          </a:ln>
        </p:spPr>
      </p:sp>
      <p:sp>
        <p:nvSpPr>
          <p:cNvPr id="31" name="shape-193">
            <a:extLst xmlns:a="http://schemas.openxmlformats.org/drawingml/2006/main">
              <a:ext uri="{FF2B5EF4-FFF2-40B4-BE49-F238E27FC236}">
                <a16:creationId xmlns:a16="http://schemas.microsoft.com/office/drawing/2014/main" id="{53E87DDF-F470-4D08-9B60-3B14594F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2828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按授权供所选专家检索</a:t>
            </a:r>
          </a:p>
        </p:txBody>
      </p:sp>
      <p:sp>
        <p:nvSpPr>
          <p:cNvPr id="32" name="shape-194">
            <a:extLst xmlns:a="http://schemas.openxmlformats.org/drawingml/2006/main">
              <a:ext uri="{FF2B5EF4-FFF2-40B4-BE49-F238E27FC236}">
                <a16:creationId xmlns:a16="http://schemas.microsoft.com/office/drawing/2014/main" id="{59F88E65-20D4-4D05-8CB8-AD16DDF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057900"/>
            <a:ext cx="954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专家建议进入共享历史，主导师在后续对话中继续整合</a:t>
            </a:r>
          </a:p>
        </p:txBody>
      </p:sp>
    </p:spTree>
    <p:extLst>
      <p:ext uri="{BB962C8B-B14F-4D97-AF65-F5344CB8AC3E}">
        <p14:creationId xmlns:p14="http://schemas.microsoft.com/office/powerpoint/2010/main" val="9401382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95">
            <a:extLst xmlns:a="http://schemas.openxmlformats.org/drawingml/2006/main">
              <a:ext uri="{FF2B5EF4-FFF2-40B4-BE49-F238E27FC236}">
                <a16:creationId xmlns:a16="http://schemas.microsoft.com/office/drawing/2014/main" id="{F5280115-5780-42D6-9650-89AF6780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一套工作台，连接流程、AI 与可保存的成果</a:t>
            </a:r>
          </a:p>
        </p:txBody>
      </p:sp>
      <p:sp>
        <p:nvSpPr>
          <p:cNvPr id="2" name="shape-196">
            <a:extLst xmlns:a="http://schemas.openxmlformats.org/drawingml/2006/main">
              <a:ext uri="{FF2B5EF4-FFF2-40B4-BE49-F238E27FC236}">
                <a16:creationId xmlns:a16="http://schemas.microsoft.com/office/drawing/2014/main" id="{A97A8B3D-41C1-45FE-8404-BB4B936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当前实现：Vue 3 + FastAPI + SQLite + 本地课程检索</a:t>
            </a:r>
          </a:p>
        </p:txBody>
      </p:sp>
      <p:sp>
        <p:nvSpPr>
          <p:cNvPr id="3" name="shape-197">
            <a:extLst xmlns:a="http://schemas.openxmlformats.org/drawingml/2006/main">
              <a:ext uri="{FF2B5EF4-FFF2-40B4-BE49-F238E27FC236}">
                <a16:creationId xmlns:a16="http://schemas.microsoft.com/office/drawing/2014/main" id="{DDF79D3C-9CF6-4437-87FC-29395FAB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shape-198">
            <a:extLst xmlns:a="http://schemas.openxmlformats.org/drawingml/2006/main">
              <a:ext uri="{FF2B5EF4-FFF2-40B4-BE49-F238E27FC236}">
                <a16:creationId xmlns:a16="http://schemas.microsoft.com/office/drawing/2014/main" id="{9B050DAF-B9DB-4DE2-92AC-01955F4D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0934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D9D0"/>
            </a:solidFill>
            <a:prstDash val="solid"/>
          </a:ln>
        </p:spPr>
      </p:sp>
      <p:sp>
        <p:nvSpPr>
          <p:cNvPr id="5" name="shape-199">
            <a:extLst xmlns:a="http://schemas.openxmlformats.org/drawingml/2006/main">
              <a:ext uri="{FF2B5EF4-FFF2-40B4-BE49-F238E27FC236}">
                <a16:creationId xmlns:a16="http://schemas.microsoft.com/office/drawing/2014/main" id="{F2CC584F-00F9-496A-BA13-A61F5840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66925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前端工作台</a:t>
            </a:r>
          </a:p>
        </p:txBody>
      </p:sp>
      <p:sp>
        <p:nvSpPr>
          <p:cNvPr id="6" name="shape-200">
            <a:extLst xmlns:a="http://schemas.openxmlformats.org/drawingml/2006/main">
              <a:ext uri="{FF2B5EF4-FFF2-40B4-BE49-F238E27FC236}">
                <a16:creationId xmlns:a16="http://schemas.microsoft.com/office/drawing/2014/main" id="{F7071BF8-6E07-4D9A-8B5A-8FFFA204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189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7" name="path-201">
            <a:extLst xmlns:a="http://schemas.openxmlformats.org/drawingml/2006/main">
              <a:ext uri="{FF2B5EF4-FFF2-40B4-BE49-F238E27FC236}">
                <a16:creationId xmlns:a16="http://schemas.microsoft.com/office/drawing/2014/main" id="{6056D3AF-A3A0-4E03-959C-C345B200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8597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8" name="shape-202">
            <a:extLst xmlns:a="http://schemas.openxmlformats.org/drawingml/2006/main">
              <a:ext uri="{FF2B5EF4-FFF2-40B4-BE49-F238E27FC236}">
                <a16:creationId xmlns:a16="http://schemas.microsoft.com/office/drawing/2014/main" id="{2412DE59-C544-41D7-9034-267C0F1B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57400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Chat  ·  Draft  ·  Session  ·  File  ·  Export</a:t>
            </a:r>
          </a:p>
        </p:txBody>
      </p:sp>
      <p:sp>
        <p:nvSpPr>
          <p:cNvPr id="9" name="path-203">
            <a:extLst xmlns:a="http://schemas.openxmlformats.org/drawingml/2006/main">
              <a:ext uri="{FF2B5EF4-FFF2-40B4-BE49-F238E27FC236}">
                <a16:creationId xmlns:a16="http://schemas.microsoft.com/office/drawing/2014/main" id="{B454B905-5E8F-4EF7-952C-FD7F41B9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9525" cy="104775"/>
          </a:xfrm>
          <a:custGeom xmlns:a="http://schemas.openxmlformats.org/drawingml/2006/main">
            <a:pathLst>
              <a:path w="952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0" name="path-204">
            <a:extLst xmlns:a="http://schemas.openxmlformats.org/drawingml/2006/main">
              <a:ext uri="{FF2B5EF4-FFF2-40B4-BE49-F238E27FC236}">
                <a16:creationId xmlns:a16="http://schemas.microsoft.com/office/drawing/2014/main" id="{77D54251-A9E5-4D72-8EA8-83DD6482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093" y="2832042"/>
            <a:ext cx="89615" cy="73083"/>
          </a:xfrm>
          <a:custGeom xmlns:a="http://schemas.openxmlformats.org/drawingml/2006/main">
            <a:pathLst>
              <a:path w="89615" h="73083">
                <a:moveTo>
                  <a:pt x="0" y="0"/>
                </a:moveTo>
                <a:lnTo>
                  <a:pt x="44807" y="73083"/>
                </a:lnTo>
                <a:lnTo>
                  <a:pt x="89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1" name="shape-205">
            <a:extLst xmlns:a="http://schemas.openxmlformats.org/drawingml/2006/main">
              <a:ext uri="{FF2B5EF4-FFF2-40B4-BE49-F238E27FC236}">
                <a16:creationId xmlns:a16="http://schemas.microsoft.com/office/drawing/2014/main" id="{1470710D-B973-479F-A249-3CCB9531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14650"/>
            <a:ext cx="10934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9525">
            <a:solidFill>
              <a:srgbClr val="C6D9D0"/>
            </a:solidFill>
            <a:prstDash val="solid"/>
          </a:ln>
        </p:spPr>
      </p:sp>
      <p:sp>
        <p:nvSpPr>
          <p:cNvPr id="12" name="shape-206">
            <a:extLst xmlns:a="http://schemas.openxmlformats.org/drawingml/2006/main">
              <a:ext uri="{FF2B5EF4-FFF2-40B4-BE49-F238E27FC236}">
                <a16:creationId xmlns:a16="http://schemas.microsoft.com/office/drawing/2014/main" id="{2BB9E15B-67FB-4FC2-8B80-A4A95F7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28950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服务编排层</a:t>
            </a:r>
          </a:p>
        </p:txBody>
      </p:sp>
      <p:sp>
        <p:nvSpPr>
          <p:cNvPr id="13" name="shape-207">
            <a:extLst xmlns:a="http://schemas.openxmlformats.org/drawingml/2006/main">
              <a:ext uri="{FF2B5EF4-FFF2-40B4-BE49-F238E27FC236}">
                <a16:creationId xmlns:a16="http://schemas.microsoft.com/office/drawing/2014/main" id="{489FB4E0-6DAC-45AB-97D7-B75629F9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62325"/>
            <a:ext cx="189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14" name="path-208">
            <a:extLst xmlns:a="http://schemas.openxmlformats.org/drawingml/2006/main">
              <a:ext uri="{FF2B5EF4-FFF2-40B4-BE49-F238E27FC236}">
                <a16:creationId xmlns:a16="http://schemas.microsoft.com/office/drawing/2014/main" id="{B596B874-BEE7-4642-A697-4B7DC728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480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15" name="shape-209">
            <a:extLst xmlns:a="http://schemas.openxmlformats.org/drawingml/2006/main">
              <a:ext uri="{FF2B5EF4-FFF2-40B4-BE49-F238E27FC236}">
                <a16:creationId xmlns:a16="http://schemas.microsoft.com/office/drawing/2014/main" id="{8A065166-B750-4240-AD1E-62DBC36C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19425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会话与权限  ·  工作流  ·  SSE / 中断  ·  Agent 路由</a:t>
            </a:r>
          </a:p>
        </p:txBody>
      </p:sp>
      <p:sp>
        <p:nvSpPr>
          <p:cNvPr id="16" name="path-210">
            <a:extLst xmlns:a="http://schemas.openxmlformats.org/drawingml/2006/main">
              <a:ext uri="{FF2B5EF4-FFF2-40B4-BE49-F238E27FC236}">
                <a16:creationId xmlns:a16="http://schemas.microsoft.com/office/drawing/2014/main" id="{6C9A70AD-9A51-4165-A428-91C71C83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62375"/>
            <a:ext cx="9525" cy="104775"/>
          </a:xfrm>
          <a:custGeom xmlns:a="http://schemas.openxmlformats.org/drawingml/2006/main">
            <a:pathLst>
              <a:path w="952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7" name="path-211">
            <a:extLst xmlns:a="http://schemas.openxmlformats.org/drawingml/2006/main">
              <a:ext uri="{FF2B5EF4-FFF2-40B4-BE49-F238E27FC236}">
                <a16:creationId xmlns:a16="http://schemas.microsoft.com/office/drawing/2014/main" id="{A7EAC649-FB54-4F16-B5D4-851665C1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093" y="3794067"/>
            <a:ext cx="89615" cy="73083"/>
          </a:xfrm>
          <a:custGeom xmlns:a="http://schemas.openxmlformats.org/drawingml/2006/main">
            <a:pathLst>
              <a:path w="89615" h="73083">
                <a:moveTo>
                  <a:pt x="0" y="0"/>
                </a:moveTo>
                <a:lnTo>
                  <a:pt x="44807" y="73083"/>
                </a:lnTo>
                <a:lnTo>
                  <a:pt x="89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18" name="shape-212">
            <a:extLst xmlns:a="http://schemas.openxmlformats.org/drawingml/2006/main">
              <a:ext uri="{FF2B5EF4-FFF2-40B4-BE49-F238E27FC236}">
                <a16:creationId xmlns:a16="http://schemas.microsoft.com/office/drawing/2014/main" id="{B22FCCFA-D96E-41F9-B31E-27666405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10934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9525">
            <a:solidFill>
              <a:srgbClr val="C6D9D0"/>
            </a:solidFill>
            <a:prstDash val="solid"/>
          </a:ln>
        </p:spPr>
      </p:sp>
      <p:sp>
        <p:nvSpPr>
          <p:cNvPr id="19" name="shape-213">
            <a:extLst xmlns:a="http://schemas.openxmlformats.org/drawingml/2006/main">
              <a:ext uri="{FF2B5EF4-FFF2-40B4-BE49-F238E27FC236}">
                <a16:creationId xmlns:a16="http://schemas.microsoft.com/office/drawing/2014/main" id="{D38C7B9B-4A02-43EF-B499-FF3296E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90975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AI 能力层</a:t>
            </a:r>
          </a:p>
        </p:txBody>
      </p:sp>
      <p:sp>
        <p:nvSpPr>
          <p:cNvPr id="20" name="shape-214">
            <a:extLst xmlns:a="http://schemas.openxmlformats.org/drawingml/2006/main">
              <a:ext uri="{FF2B5EF4-FFF2-40B4-BE49-F238E27FC236}">
                <a16:creationId xmlns:a16="http://schemas.microsoft.com/office/drawing/2014/main" id="{C3D660AC-B404-4C17-AEA4-33E27FA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24350"/>
            <a:ext cx="189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角色 + 模型</a:t>
            </a:r>
          </a:p>
        </p:txBody>
      </p:sp>
      <p:sp>
        <p:nvSpPr>
          <p:cNvPr id="21" name="path-215">
            <a:extLst xmlns:a="http://schemas.openxmlformats.org/drawingml/2006/main">
              <a:ext uri="{FF2B5EF4-FFF2-40B4-BE49-F238E27FC236}">
                <a16:creationId xmlns:a16="http://schemas.microsoft.com/office/drawing/2014/main" id="{B7B31F03-3B09-4BA6-A2DF-E59B96B8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10025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22" name="shape-216">
            <a:extLst xmlns:a="http://schemas.openxmlformats.org/drawingml/2006/main">
              <a:ext uri="{FF2B5EF4-FFF2-40B4-BE49-F238E27FC236}">
                <a16:creationId xmlns:a16="http://schemas.microsoft.com/office/drawing/2014/main" id="{59B6645A-BF9B-4678-96EC-AB4C600C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81450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主导师 / 五位专家  →  LLM       所选专家  →  RAG</a:t>
            </a:r>
          </a:p>
        </p:txBody>
      </p:sp>
      <p:sp>
        <p:nvSpPr>
          <p:cNvPr id="23" name="path-217">
            <a:extLst xmlns:a="http://schemas.openxmlformats.org/drawingml/2006/main">
              <a:ext uri="{FF2B5EF4-FFF2-40B4-BE49-F238E27FC236}">
                <a16:creationId xmlns:a16="http://schemas.microsoft.com/office/drawing/2014/main" id="{4A3E38A7-EA57-494F-9564-B579F02E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24400"/>
            <a:ext cx="9525" cy="104775"/>
          </a:xfrm>
          <a:custGeom xmlns:a="http://schemas.openxmlformats.org/drawingml/2006/main">
            <a:pathLst>
              <a:path w="9525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24" name="path-218">
            <a:extLst xmlns:a="http://schemas.openxmlformats.org/drawingml/2006/main">
              <a:ext uri="{FF2B5EF4-FFF2-40B4-BE49-F238E27FC236}">
                <a16:creationId xmlns:a16="http://schemas.microsoft.com/office/drawing/2014/main" id="{C3DE9262-5C23-4B28-AE0B-EA5D856C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093" y="4756092"/>
            <a:ext cx="89615" cy="73083"/>
          </a:xfrm>
          <a:custGeom xmlns:a="http://schemas.openxmlformats.org/drawingml/2006/main">
            <a:pathLst>
              <a:path w="89615" h="73083">
                <a:moveTo>
                  <a:pt x="0" y="0"/>
                </a:moveTo>
                <a:lnTo>
                  <a:pt x="44807" y="73083"/>
                </a:lnTo>
                <a:lnTo>
                  <a:pt x="896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87D70"/>
            </a:solidFill>
            <a:prstDash val="solid"/>
          </a:ln>
        </p:spPr>
      </p:sp>
      <p:sp>
        <p:nvSpPr>
          <p:cNvPr id="25" name="shape-219">
            <a:extLst xmlns:a="http://schemas.openxmlformats.org/drawingml/2006/main">
              <a:ext uri="{FF2B5EF4-FFF2-40B4-BE49-F238E27FC236}">
                <a16:creationId xmlns:a16="http://schemas.microsoft.com/office/drawing/2014/main" id="{F5A30828-0650-49A3-B139-C1225959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38700"/>
            <a:ext cx="10934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4"/>
          </a:solidFill>
          <a:ln xmlns:a="http://schemas.openxmlformats.org/drawingml/2006/main" w="9525">
            <a:solidFill>
              <a:srgbClr val="C6D9D0"/>
            </a:solidFill>
            <a:prstDash val="solid"/>
          </a:ln>
        </p:spPr>
      </p:sp>
      <p:sp>
        <p:nvSpPr>
          <p:cNvPr id="26" name="shape-220">
            <a:extLst xmlns:a="http://schemas.openxmlformats.org/drawingml/2006/main">
              <a:ext uri="{FF2B5EF4-FFF2-40B4-BE49-F238E27FC236}">
                <a16:creationId xmlns:a16="http://schemas.microsoft.com/office/drawing/2014/main" id="{7DCCBE57-8C13-4FBA-964F-71F0252A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53000"/>
            <a:ext cx="1895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数据与资源</a:t>
            </a:r>
          </a:p>
        </p:txBody>
      </p:sp>
      <p:sp>
        <p:nvSpPr>
          <p:cNvPr id="27" name="shape-221">
            <a:extLst xmlns:a="http://schemas.openxmlformats.org/drawingml/2006/main">
              <a:ext uri="{FF2B5EF4-FFF2-40B4-BE49-F238E27FC236}">
                <a16:creationId xmlns:a16="http://schemas.microsoft.com/office/drawing/2014/main" id="{2E7E6531-D0DF-41D3-A3EE-61FA1E3C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895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本地持久化</a:t>
            </a:r>
          </a:p>
        </p:txBody>
      </p:sp>
      <p:sp>
        <p:nvSpPr>
          <p:cNvPr id="28" name="path-222">
            <a:extLst xmlns:a="http://schemas.openxmlformats.org/drawingml/2006/main">
              <a:ext uri="{FF2B5EF4-FFF2-40B4-BE49-F238E27FC236}">
                <a16:creationId xmlns:a16="http://schemas.microsoft.com/office/drawing/2014/main" id="{A9816660-E0B6-48A6-BE93-90B44D8C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7205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sp>
        <p:nvSpPr>
          <p:cNvPr id="29" name="shape-223">
            <a:extLst xmlns:a="http://schemas.openxmlformats.org/drawingml/2006/main">
              <a:ext uri="{FF2B5EF4-FFF2-40B4-BE49-F238E27FC236}">
                <a16:creationId xmlns:a16="http://schemas.microsoft.com/office/drawing/2014/main" id="{809EBB7C-5CB3-4923-93EE-61E64C0B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43475"/>
            <a:ext cx="822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SQLite：会话、草案、知识片段、检索记录</a:t>
            </a:r>
          </a:p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本地文件：上传资料       Chroma：课程向量索引</a:t>
            </a:r>
          </a:p>
        </p:txBody>
      </p:sp>
      <p:sp>
        <p:nvSpPr>
          <p:cNvPr id="30" name="shape-224">
            <a:extLst xmlns:a="http://schemas.openxmlformats.org/drawingml/2006/main">
              <a:ext uri="{FF2B5EF4-FFF2-40B4-BE49-F238E27FC236}">
                <a16:creationId xmlns:a16="http://schemas.microsoft.com/office/drawing/2014/main" id="{7CBE42E7-6B9C-4657-8003-8C032C96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10658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会话级参考资料进入共享上下文；课程 RAG 在专家权限范围内检索</a:t>
            </a:r>
          </a:p>
        </p:txBody>
      </p:sp>
    </p:spTree>
    <p:extLst>
      <p:ext uri="{BB962C8B-B14F-4D97-AF65-F5344CB8AC3E}">
        <p14:creationId xmlns:p14="http://schemas.microsoft.com/office/powerpoint/2010/main" val="1981036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-225">
            <a:extLst xmlns:a="http://schemas.openxmlformats.org/drawingml/2006/main">
              <a:ext uri="{FF2B5EF4-FFF2-40B4-BE49-F238E27FC236}">
                <a16:creationId xmlns:a16="http://schemas.microsoft.com/office/drawing/2014/main" id="{3CA7C523-B8E7-4ACA-AB37-E039B19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对话、草案与审阅，汇入同一个工作台</a:t>
            </a:r>
          </a:p>
        </p:txBody>
      </p:sp>
      <p:sp>
        <p:nvSpPr>
          <p:cNvPr id="2" name="shape-226">
            <a:extLst xmlns:a="http://schemas.openxmlformats.org/drawingml/2006/main">
              <a:ext uri="{FF2B5EF4-FFF2-40B4-BE49-F238E27FC236}">
                <a16:creationId xmlns:a16="http://schemas.microsoft.com/office/drawing/2014/main" id="{958C35EC-948A-4216-B9E1-51C254F1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真实项目界面 · 演示数据</a:t>
            </a:r>
          </a:p>
        </p:txBody>
      </p:sp>
      <p:sp>
        <p:nvSpPr>
          <p:cNvPr id="3" name="shape-227">
            <a:extLst xmlns:a="http://schemas.openxmlformats.org/drawingml/2006/main">
              <a:ext uri="{FF2B5EF4-FFF2-40B4-BE49-F238E27FC236}">
                <a16:creationId xmlns:a16="http://schemas.microsoft.com/office/drawing/2014/main" id="{21D82D73-F0E9-4A49-9F5D-896EEFE9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shape-228">
            <a:extLst xmlns:a="http://schemas.openxmlformats.org/drawingml/2006/main">
              <a:ext uri="{FF2B5EF4-FFF2-40B4-BE49-F238E27FC236}">
                <a16:creationId xmlns:a16="http://schemas.microsoft.com/office/drawing/2014/main" id="{DD8C150E-EB06-4F34-AF91-75B212F4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14525"/>
            <a:ext cx="81534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D9D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029c1c6fa493f"/>
          <a:stretch xmlns:a="http://schemas.openxmlformats.org/drawingml/2006/main"/>
        </p:blipFill>
        <p:spPr>
          <a:xfrm xmlns:a="http://schemas.openxmlformats.org/drawingml/2006/main">
            <a:off x="657225" y="1933575"/>
            <a:ext cx="8020050" cy="4010025"/>
          </a:xfrm>
          <a:prstGeom xmlns:a="http://schemas.openxmlformats.org/drawingml/2006/main" prst="rect">
            <a:avLst/>
          </a:prstGeom>
        </p:spPr>
      </p:pic>
      <p:sp>
        <p:nvSpPr>
          <p:cNvPr id="6" name="shape-229">
            <a:extLst xmlns:a="http://schemas.openxmlformats.org/drawingml/2006/main">
              <a:ext uri="{FF2B5EF4-FFF2-40B4-BE49-F238E27FC236}">
                <a16:creationId xmlns:a16="http://schemas.microsoft.com/office/drawing/2014/main" id="{2A7D9D20-475E-4EBE-B6B9-6BDD835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66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230">
            <a:extLst xmlns:a="http://schemas.openxmlformats.org/drawingml/2006/main">
              <a:ext uri="{FF2B5EF4-FFF2-40B4-BE49-F238E27FC236}">
                <a16:creationId xmlns:a16="http://schemas.microsoft.com/office/drawing/2014/main" id="{79309D6E-EDD2-4C52-9A69-3C24908D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shape-231">
            <a:extLst xmlns:a="http://schemas.openxmlformats.org/drawingml/2006/main">
              <a:ext uri="{FF2B5EF4-FFF2-40B4-BE49-F238E27FC236}">
                <a16:creationId xmlns:a16="http://schemas.microsoft.com/office/drawing/2014/main" id="{AAFB7C71-260C-431D-A4BF-8770FF1E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4787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创建与组织</a:t>
            </a:r>
          </a:p>
        </p:txBody>
      </p:sp>
      <p:sp>
        <p:nvSpPr>
          <p:cNvPr id="9" name="shape-232">
            <a:extLst xmlns:a="http://schemas.openxmlformats.org/drawingml/2006/main">
              <a:ext uri="{FF2B5EF4-FFF2-40B4-BE49-F238E27FC236}">
                <a16:creationId xmlns:a16="http://schemas.microsoft.com/office/drawing/2014/main" id="{679EB9DD-E9D1-464A-ACC2-45D00E2B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28900"/>
            <a:ext cx="2505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会话、阶段、参考资料</a:t>
            </a:r>
          </a:p>
        </p:txBody>
      </p:sp>
      <p:sp>
        <p:nvSpPr>
          <p:cNvPr id="10" name="path-233">
            <a:extLst xmlns:a="http://schemas.openxmlformats.org/drawingml/2006/main">
              <a:ext uri="{FF2B5EF4-FFF2-40B4-BE49-F238E27FC236}">
                <a16:creationId xmlns:a16="http://schemas.microsoft.com/office/drawing/2014/main" id="{6C51E480-3036-4CFA-A493-242BCFF1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48025"/>
            <a:ext cx="2505075" cy="9525"/>
          </a:xfrm>
          <a:custGeom xmlns:a="http://schemas.openxmlformats.org/drawingml/2006/main">
            <a:pathLst>
              <a:path w="2505075" h="9525">
                <a:moveTo>
                  <a:pt x="0" y="0"/>
                </a:moveTo>
                <a:lnTo>
                  <a:pt x="2505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6D9D0"/>
            </a:solidFill>
            <a:prstDash val="solid"/>
          </a:ln>
        </p:spPr>
      </p:sp>
      <p:sp>
        <p:nvSpPr>
          <p:cNvPr id="11" name="shape-234">
            <a:extLst xmlns:a="http://schemas.openxmlformats.org/drawingml/2006/main">
              <a:ext uri="{FF2B5EF4-FFF2-40B4-BE49-F238E27FC236}">
                <a16:creationId xmlns:a16="http://schemas.microsoft.com/office/drawing/2014/main" id="{360948CD-F9B5-4583-AF5F-957B391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29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235">
            <a:extLst xmlns:a="http://schemas.openxmlformats.org/drawingml/2006/main">
              <a:ext uri="{FF2B5EF4-FFF2-40B4-BE49-F238E27FC236}">
                <a16:creationId xmlns:a16="http://schemas.microsoft.com/office/drawing/2014/main" id="{F21EE5B8-3465-4316-9D75-94E54F6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385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hape-236">
            <a:extLst xmlns:a="http://schemas.openxmlformats.org/drawingml/2006/main">
              <a:ext uri="{FF2B5EF4-FFF2-40B4-BE49-F238E27FC236}">
                <a16:creationId xmlns:a16="http://schemas.microsoft.com/office/drawing/2014/main" id="{865DFCB0-6AA0-4E90-8954-74FFF327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9950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讨论与咨询</a:t>
            </a:r>
          </a:p>
        </p:txBody>
      </p:sp>
      <p:sp>
        <p:nvSpPr>
          <p:cNvPr id="14" name="shape-237">
            <a:extLst xmlns:a="http://schemas.openxmlformats.org/drawingml/2006/main">
              <a:ext uri="{FF2B5EF4-FFF2-40B4-BE49-F238E27FC236}">
                <a16:creationId xmlns:a16="http://schemas.microsoft.com/office/drawing/2014/main" id="{2057DFD0-4ADC-40E0-B5B8-C5920233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990975"/>
            <a:ext cx="2505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主导师、专家、流式对话</a:t>
            </a:r>
          </a:p>
        </p:txBody>
      </p:sp>
      <p:sp>
        <p:nvSpPr>
          <p:cNvPr id="15" name="path-238">
            <a:extLst xmlns:a="http://schemas.openxmlformats.org/drawingml/2006/main">
              <a:ext uri="{FF2B5EF4-FFF2-40B4-BE49-F238E27FC236}">
                <a16:creationId xmlns:a16="http://schemas.microsoft.com/office/drawing/2014/main" id="{DCA1FD07-BB3C-4BD7-94B6-7EFEA733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610100"/>
            <a:ext cx="2505075" cy="9525"/>
          </a:xfrm>
          <a:custGeom xmlns:a="http://schemas.openxmlformats.org/drawingml/2006/main">
            <a:pathLst>
              <a:path w="2505075" h="9525">
                <a:moveTo>
                  <a:pt x="0" y="0"/>
                </a:moveTo>
                <a:lnTo>
                  <a:pt x="2505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6D9D0"/>
            </a:solidFill>
            <a:prstDash val="solid"/>
          </a:ln>
        </p:spPr>
      </p:sp>
      <p:sp>
        <p:nvSpPr>
          <p:cNvPr id="16" name="shape-239">
            <a:extLst xmlns:a="http://schemas.openxmlformats.org/drawingml/2006/main">
              <a:ext uri="{FF2B5EF4-FFF2-40B4-BE49-F238E27FC236}">
                <a16:creationId xmlns:a16="http://schemas.microsoft.com/office/drawing/2014/main" id="{A656B53C-BBB7-4738-96D4-EAD490E2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791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240">
            <a:extLst xmlns:a="http://schemas.openxmlformats.org/drawingml/2006/main">
              <a:ext uri="{FF2B5EF4-FFF2-40B4-BE49-F238E27FC236}">
                <a16:creationId xmlns:a16="http://schemas.microsoft.com/office/drawing/2014/main" id="{5FFADD8A-1B59-4A5E-A346-95B53389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00600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shape-241">
            <a:extLst xmlns:a="http://schemas.openxmlformats.org/drawingml/2006/main">
              <a:ext uri="{FF2B5EF4-FFF2-40B4-BE49-F238E27FC236}">
                <a16:creationId xmlns:a16="http://schemas.microsoft.com/office/drawing/2014/main" id="{E7F6FBD4-523B-45AD-BAE6-F51AD7A7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72025"/>
            <a:ext cx="1981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审阅与交付</a:t>
            </a:r>
          </a:p>
        </p:txBody>
      </p:sp>
      <p:sp>
        <p:nvSpPr>
          <p:cNvPr id="19" name="shape-242">
            <a:extLst xmlns:a="http://schemas.openxmlformats.org/drawingml/2006/main">
              <a:ext uri="{FF2B5EF4-FFF2-40B4-BE49-F238E27FC236}">
                <a16:creationId xmlns:a16="http://schemas.microsoft.com/office/drawing/2014/main" id="{72B31EDD-47B8-4B58-A2D6-2F2C8F3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353050"/>
            <a:ext cx="25050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修改草案、回滚、导出 .md</a:t>
            </a:r>
          </a:p>
        </p:txBody>
      </p:sp>
    </p:spTree>
    <p:extLst>
      <p:ext uri="{BB962C8B-B14F-4D97-AF65-F5344CB8AC3E}">
        <p14:creationId xmlns:p14="http://schemas.microsoft.com/office/powerpoint/2010/main" val="7232511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-243">
            <a:extLst xmlns:a="http://schemas.openxmlformats.org/drawingml/2006/main">
              <a:ext uri="{FF2B5EF4-FFF2-40B4-BE49-F238E27FC236}">
                <a16:creationId xmlns:a16="http://schemas.microsoft.com/office/drawing/2014/main" id="{BF798059-E3B1-4DDA-94DE-E44F56D9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课程知识先授权，再进入专业建议</a:t>
            </a:r>
          </a:p>
        </p:txBody>
      </p:sp>
      <p:sp>
        <p:nvSpPr>
          <p:cNvPr id="2" name="shape-244">
            <a:extLst xmlns:a="http://schemas.openxmlformats.org/drawingml/2006/main">
              <a:ext uri="{FF2B5EF4-FFF2-40B4-BE49-F238E27FC236}">
                <a16:creationId xmlns:a16="http://schemas.microsoft.com/office/drawing/2014/main" id="{7315226C-2F98-4416-8927-7A854098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只检索获授权的资料，结合 BM25 与本地向量召回</a:t>
            </a:r>
          </a:p>
        </p:txBody>
      </p:sp>
      <p:sp>
        <p:nvSpPr>
          <p:cNvPr id="3" name="shape-245">
            <a:extLst xmlns:a="http://schemas.openxmlformats.org/drawingml/2006/main">
              <a:ext uri="{FF2B5EF4-FFF2-40B4-BE49-F238E27FC236}">
                <a16:creationId xmlns:a16="http://schemas.microsoft.com/office/drawing/2014/main" id="{48CD1D41-4495-4113-9C16-263C141A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shape-246">
            <a:extLst xmlns:a="http://schemas.openxmlformats.org/drawingml/2006/main">
              <a:ext uri="{FF2B5EF4-FFF2-40B4-BE49-F238E27FC236}">
                <a16:creationId xmlns:a16="http://schemas.microsoft.com/office/drawing/2014/main" id="{FEDEF711-32CC-47CE-A8D2-D36B0573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80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入库</a:t>
            </a:r>
          </a:p>
        </p:txBody>
      </p:sp>
      <p:sp>
        <p:nvSpPr>
          <p:cNvPr id="5" name="shape-247">
            <a:extLst xmlns:a="http://schemas.openxmlformats.org/drawingml/2006/main">
              <a:ext uri="{FF2B5EF4-FFF2-40B4-BE49-F238E27FC236}">
                <a16:creationId xmlns:a16="http://schemas.microsoft.com/office/drawing/2014/main" id="{5BA4A426-5BB7-4924-BC0F-4448BD0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47850"/>
            <a:ext cx="34004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hape-248">
            <a:extLst xmlns:a="http://schemas.openxmlformats.org/drawingml/2006/main">
              <a:ext uri="{FF2B5EF4-FFF2-40B4-BE49-F238E27FC236}">
                <a16:creationId xmlns:a16="http://schemas.microsoft.com/office/drawing/2014/main" id="{0B2C6068-1252-42F5-92D7-57F6C614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924050"/>
            <a:ext cx="3171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课程资料</a:t>
            </a:r>
          </a:p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PDF / DOCX / TXT / MD</a:t>
            </a:r>
          </a:p>
        </p:txBody>
      </p:sp>
      <p:sp>
        <p:nvSpPr>
          <p:cNvPr id="7" name="path-249">
            <a:extLst xmlns:a="http://schemas.openxmlformats.org/drawingml/2006/main">
              <a:ext uri="{FF2B5EF4-FFF2-40B4-BE49-F238E27FC236}">
                <a16:creationId xmlns:a16="http://schemas.microsoft.com/office/drawing/2014/main" id="{76443D2D-0842-44A5-999E-459556F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1932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8" name="path-250">
            <a:extLst xmlns:a="http://schemas.openxmlformats.org/drawingml/2006/main">
              <a:ext uri="{FF2B5EF4-FFF2-40B4-BE49-F238E27FC236}">
                <a16:creationId xmlns:a16="http://schemas.microsoft.com/office/drawing/2014/main" id="{953312E3-489E-4D17-842C-CAEB72A0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417" y="217451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9" name="shape-251">
            <a:extLst xmlns:a="http://schemas.openxmlformats.org/drawingml/2006/main">
              <a:ext uri="{FF2B5EF4-FFF2-40B4-BE49-F238E27FC236}">
                <a16:creationId xmlns:a16="http://schemas.microsoft.com/office/drawing/2014/main" id="{A48F8E17-6AD7-44C6-BD12-613D769A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847850"/>
            <a:ext cx="2428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252">
            <a:extLst xmlns:a="http://schemas.openxmlformats.org/drawingml/2006/main">
              <a:ext uri="{FF2B5EF4-FFF2-40B4-BE49-F238E27FC236}">
                <a16:creationId xmlns:a16="http://schemas.microsoft.com/office/drawing/2014/main" id="{3D082BB2-78D9-4938-91B7-49E94CB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924050"/>
            <a:ext cx="2200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解析与切片</a:t>
            </a:r>
          </a:p>
        </p:txBody>
      </p:sp>
      <p:sp>
        <p:nvSpPr>
          <p:cNvPr id="11" name="path-253">
            <a:extLst xmlns:a="http://schemas.openxmlformats.org/drawingml/2006/main">
              <a:ext uri="{FF2B5EF4-FFF2-40B4-BE49-F238E27FC236}">
                <a16:creationId xmlns:a16="http://schemas.microsoft.com/office/drawing/2014/main" id="{82F788C6-995E-4130-A1BF-283EBB79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19325"/>
            <a:ext cx="447675" cy="9525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2" name="path-254">
            <a:extLst xmlns:a="http://schemas.openxmlformats.org/drawingml/2006/main">
              <a:ext uri="{FF2B5EF4-FFF2-40B4-BE49-F238E27FC236}">
                <a16:creationId xmlns:a16="http://schemas.microsoft.com/office/drawing/2014/main" id="{EA46E993-51AF-4BB3-842B-BB17C795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467" y="217451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3" name="shape-255">
            <a:extLst xmlns:a="http://schemas.openxmlformats.org/drawingml/2006/main">
              <a:ext uri="{FF2B5EF4-FFF2-40B4-BE49-F238E27FC236}">
                <a16:creationId xmlns:a16="http://schemas.microsoft.com/office/drawing/2014/main" id="{5CDD1EF6-E0E5-4FF0-A878-F5B3BDE2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478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256">
            <a:extLst xmlns:a="http://schemas.openxmlformats.org/drawingml/2006/main">
              <a:ext uri="{FF2B5EF4-FFF2-40B4-BE49-F238E27FC236}">
                <a16:creationId xmlns:a16="http://schemas.microsoft.com/office/drawing/2014/main" id="{042F0054-8892-43ED-BAC1-256A8D39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240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索引与授权</a:t>
            </a:r>
          </a:p>
        </p:txBody>
      </p:sp>
      <p:sp>
        <p:nvSpPr>
          <p:cNvPr id="15" name="shape-257">
            <a:extLst xmlns:a="http://schemas.openxmlformats.org/drawingml/2006/main">
              <a:ext uri="{FF2B5EF4-FFF2-40B4-BE49-F238E27FC236}">
                <a16:creationId xmlns:a16="http://schemas.microsoft.com/office/drawing/2014/main" id="{9B834C89-D0F1-41B0-B1FF-3D04C28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80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6" name="shape-258">
            <a:extLst xmlns:a="http://schemas.openxmlformats.org/drawingml/2006/main">
              <a:ext uri="{FF2B5EF4-FFF2-40B4-BE49-F238E27FC236}">
                <a16:creationId xmlns:a16="http://schemas.microsoft.com/office/drawing/2014/main" id="{A0EA500D-41A2-46EF-83D7-21B947F0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43275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-259">
            <a:extLst xmlns:a="http://schemas.openxmlformats.org/drawingml/2006/main">
              <a:ext uri="{FF2B5EF4-FFF2-40B4-BE49-F238E27FC236}">
                <a16:creationId xmlns:a16="http://schemas.microsoft.com/office/drawing/2014/main" id="{C31DC7C7-7EB2-4513-9292-23930589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本轮所选专家</a:t>
            </a:r>
          </a:p>
        </p:txBody>
      </p:sp>
      <p:sp>
        <p:nvSpPr>
          <p:cNvPr id="18" name="path-260">
            <a:extLst xmlns:a="http://schemas.openxmlformats.org/drawingml/2006/main">
              <a:ext uri="{FF2B5EF4-FFF2-40B4-BE49-F238E27FC236}">
                <a16:creationId xmlns:a16="http://schemas.microsoft.com/office/drawing/2014/main" id="{52EF4750-D2A0-465D-BD01-AC188F2C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052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19" name="path-261">
            <a:extLst xmlns:a="http://schemas.openxmlformats.org/drawingml/2006/main">
              <a:ext uri="{FF2B5EF4-FFF2-40B4-BE49-F238E27FC236}">
                <a16:creationId xmlns:a16="http://schemas.microsoft.com/office/drawing/2014/main" id="{3DBFBB52-BB67-4913-8122-5E03ACEF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267" y="366041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0" name="shape-262">
            <a:extLst xmlns:a="http://schemas.openxmlformats.org/drawingml/2006/main">
              <a:ext uri="{FF2B5EF4-FFF2-40B4-BE49-F238E27FC236}">
                <a16:creationId xmlns:a16="http://schemas.microsoft.com/office/drawing/2014/main" id="{B91BF084-2E49-467C-9024-1C50D2A8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43275"/>
            <a:ext cx="1685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263">
            <a:extLst xmlns:a="http://schemas.openxmlformats.org/drawingml/2006/main">
              <a:ext uri="{FF2B5EF4-FFF2-40B4-BE49-F238E27FC236}">
                <a16:creationId xmlns:a16="http://schemas.microsoft.com/office/drawing/2014/main" id="{AB06C1A4-26BB-424E-BC24-72D8E03C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19475"/>
            <a:ext cx="1457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权限过滤</a:t>
            </a:r>
          </a:p>
        </p:txBody>
      </p:sp>
      <p:sp>
        <p:nvSpPr>
          <p:cNvPr id="22" name="path-264">
            <a:extLst xmlns:a="http://schemas.openxmlformats.org/drawingml/2006/main">
              <a:ext uri="{FF2B5EF4-FFF2-40B4-BE49-F238E27FC236}">
                <a16:creationId xmlns:a16="http://schemas.microsoft.com/office/drawing/2014/main" id="{5F04E8B1-ADF7-47BE-88A2-F3585CDD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571500" cy="638175"/>
          </a:xfrm>
          <a:custGeom xmlns:a="http://schemas.openxmlformats.org/drawingml/2006/main">
            <a:pathLst>
              <a:path w="571500" h="638175">
                <a:moveTo>
                  <a:pt x="0" y="638175"/>
                </a:moveTo>
                <a:lnTo>
                  <a:pt x="295275" y="638175"/>
                </a:lnTo>
                <a:lnTo>
                  <a:pt x="295275" y="0"/>
                </a:ln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3" name="path-265">
            <a:extLst xmlns:a="http://schemas.openxmlformats.org/drawingml/2006/main">
              <a:ext uri="{FF2B5EF4-FFF2-40B4-BE49-F238E27FC236}">
                <a16:creationId xmlns:a16="http://schemas.microsoft.com/office/drawing/2014/main" id="{7A39F720-0D43-4768-A9BC-EA9F698A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4" name="path-266">
            <a:extLst xmlns:a="http://schemas.openxmlformats.org/drawingml/2006/main">
              <a:ext uri="{FF2B5EF4-FFF2-40B4-BE49-F238E27FC236}">
                <a16:creationId xmlns:a16="http://schemas.microsoft.com/office/drawing/2014/main" id="{22ADD67F-D4F6-44E1-940D-C9011ACB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517" y="3022243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25" name="path-267">
            <a:extLst xmlns:a="http://schemas.openxmlformats.org/drawingml/2006/main">
              <a:ext uri="{FF2B5EF4-FFF2-40B4-BE49-F238E27FC236}">
                <a16:creationId xmlns:a16="http://schemas.microsoft.com/office/drawing/2014/main" id="{1F443C2B-D43D-4DB7-AD5D-4B6FE2A9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05225"/>
            <a:ext cx="276225" cy="590550"/>
          </a:xfrm>
          <a:custGeom xmlns:a="http://schemas.openxmlformats.org/drawingml/2006/main">
            <a:pathLst>
              <a:path w="276225" h="590550">
                <a:moveTo>
                  <a:pt x="0" y="0"/>
                </a:moveTo>
                <a:lnTo>
                  <a:pt x="0" y="590550"/>
                </a:lnTo>
                <a:lnTo>
                  <a:pt x="276225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67B98"/>
            </a:solidFill>
            <a:prstDash val="solid"/>
          </a:ln>
        </p:spPr>
      </p:sp>
      <p:sp>
        <p:nvSpPr>
          <p:cNvPr id="26" name="path-268">
            <a:extLst xmlns:a="http://schemas.openxmlformats.org/drawingml/2006/main">
              <a:ext uri="{FF2B5EF4-FFF2-40B4-BE49-F238E27FC236}">
                <a16:creationId xmlns:a16="http://schemas.microsoft.com/office/drawing/2014/main" id="{A1773DA1-2EEA-42EC-BF22-FABCC83E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9577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67B98"/>
            </a:solidFill>
            <a:prstDash val="solid"/>
          </a:ln>
        </p:spPr>
      </p:sp>
      <p:sp>
        <p:nvSpPr>
          <p:cNvPr id="27" name="path-269">
            <a:extLst xmlns:a="http://schemas.openxmlformats.org/drawingml/2006/main">
              <a:ext uri="{FF2B5EF4-FFF2-40B4-BE49-F238E27FC236}">
                <a16:creationId xmlns:a16="http://schemas.microsoft.com/office/drawing/2014/main" id="{F5C6FEF3-1ED2-4ABB-A6BB-B10FA84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517" y="425096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67B98"/>
            </a:solidFill>
            <a:prstDash val="solid"/>
          </a:ln>
        </p:spPr>
      </p:sp>
      <p:sp>
        <p:nvSpPr>
          <p:cNvPr id="28" name="shape-270">
            <a:extLst xmlns:a="http://schemas.openxmlformats.org/drawingml/2006/main">
              <a:ext uri="{FF2B5EF4-FFF2-40B4-BE49-F238E27FC236}">
                <a16:creationId xmlns:a16="http://schemas.microsoft.com/office/drawing/2014/main" id="{173C8F59-659B-401C-8E12-6289F054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71775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e-271">
            <a:extLst xmlns:a="http://schemas.openxmlformats.org/drawingml/2006/main">
              <a:ext uri="{FF2B5EF4-FFF2-40B4-BE49-F238E27FC236}">
                <a16:creationId xmlns:a16="http://schemas.microsoft.com/office/drawing/2014/main" id="{A1929371-839C-4B30-8FF5-9C78521C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479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BM25</a:t>
            </a:r>
          </a:p>
        </p:txBody>
      </p:sp>
      <p:sp>
        <p:nvSpPr>
          <p:cNvPr id="30" name="shape-272">
            <a:extLst xmlns:a="http://schemas.openxmlformats.org/drawingml/2006/main">
              <a:ext uri="{FF2B5EF4-FFF2-40B4-BE49-F238E27FC236}">
                <a16:creationId xmlns:a16="http://schemas.microsoft.com/office/drawing/2014/main" id="{5D0A50F6-870E-475E-BEE0-5BD9F7C8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00500"/>
            <a:ext cx="19907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hape-273">
            <a:extLst xmlns:a="http://schemas.openxmlformats.org/drawingml/2006/main">
              <a:ext uri="{FF2B5EF4-FFF2-40B4-BE49-F238E27FC236}">
                <a16:creationId xmlns:a16="http://schemas.microsoft.com/office/drawing/2014/main" id="{94FC1056-6238-4B2D-BC8D-FEE16D0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76700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本地向量检索</a:t>
            </a:r>
          </a:p>
        </p:txBody>
      </p:sp>
      <p:sp>
        <p:nvSpPr>
          <p:cNvPr id="32" name="path-274">
            <a:extLst xmlns:a="http://schemas.openxmlformats.org/drawingml/2006/main">
              <a:ext uri="{FF2B5EF4-FFF2-40B4-BE49-F238E27FC236}">
                <a16:creationId xmlns:a16="http://schemas.microsoft.com/office/drawing/2014/main" id="{5FECBDBA-24D9-48A4-8578-13B6AE70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523875" cy="638175"/>
          </a:xfrm>
          <a:custGeom xmlns:a="http://schemas.openxmlformats.org/drawingml/2006/main">
            <a:pathLst>
              <a:path w="523875" h="638175">
                <a:moveTo>
                  <a:pt x="0" y="0"/>
                </a:moveTo>
                <a:lnTo>
                  <a:pt x="228600" y="0"/>
                </a:lnTo>
                <a:lnTo>
                  <a:pt x="228600" y="638175"/>
                </a:lnTo>
                <a:lnTo>
                  <a:pt x="523875" y="63817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3" name="path-275">
            <a:extLst xmlns:a="http://schemas.openxmlformats.org/drawingml/2006/main">
              <a:ext uri="{FF2B5EF4-FFF2-40B4-BE49-F238E27FC236}">
                <a16:creationId xmlns:a16="http://schemas.microsoft.com/office/drawing/2014/main" id="{C60ACFC1-835B-458C-AA2D-BB8A3327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05225"/>
            <a:ext cx="228600" cy="590550"/>
          </a:xfrm>
          <a:custGeom xmlns:a="http://schemas.openxmlformats.org/drawingml/2006/main">
            <a:pathLst>
              <a:path w="228600" h="590550">
                <a:moveTo>
                  <a:pt x="0" y="590550"/>
                </a:moveTo>
                <a:lnTo>
                  <a:pt x="228600" y="59055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67B98"/>
            </a:solidFill>
            <a:prstDash val="solid"/>
          </a:ln>
        </p:spPr>
      </p:sp>
      <p:sp>
        <p:nvSpPr>
          <p:cNvPr id="34" name="path-276">
            <a:extLst xmlns:a="http://schemas.openxmlformats.org/drawingml/2006/main">
              <a:ext uri="{FF2B5EF4-FFF2-40B4-BE49-F238E27FC236}">
                <a16:creationId xmlns:a16="http://schemas.microsoft.com/office/drawing/2014/main" id="{48D74533-A3F6-4C9A-ABDA-070FD849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05225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5" name="path-277">
            <a:extLst xmlns:a="http://schemas.openxmlformats.org/drawingml/2006/main">
              <a:ext uri="{FF2B5EF4-FFF2-40B4-BE49-F238E27FC236}">
                <a16:creationId xmlns:a16="http://schemas.microsoft.com/office/drawing/2014/main" id="{50A07A36-906B-4174-A91A-08FCC054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8042" y="3660418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187D70"/>
            </a:solidFill>
            <a:prstDash val="solid"/>
          </a:ln>
        </p:spPr>
      </p:sp>
      <p:sp>
        <p:nvSpPr>
          <p:cNvPr id="36" name="shape-278">
            <a:extLst xmlns:a="http://schemas.openxmlformats.org/drawingml/2006/main">
              <a:ext uri="{FF2B5EF4-FFF2-40B4-BE49-F238E27FC236}">
                <a16:creationId xmlns:a16="http://schemas.microsoft.com/office/drawing/2014/main" id="{B4FCA282-25BA-4053-B31F-C3234F9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3275"/>
            <a:ext cx="24479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hape-279">
            <a:extLst xmlns:a="http://schemas.openxmlformats.org/drawingml/2006/main">
              <a:ext uri="{FF2B5EF4-FFF2-40B4-BE49-F238E27FC236}">
                <a16:creationId xmlns:a16="http://schemas.microsoft.com/office/drawing/2014/main" id="{3A2DFDAB-85F2-45C6-8F6C-F3454674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19475"/>
            <a:ext cx="22193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融合与重排</a:t>
            </a:r>
          </a:p>
          <a:p xmlns:a="http://schemas.openxmlformats.org/drawingml/2006/main">
            <a:pPr algn="ctr">
              <a:def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高相关片段</a:t>
            </a:r>
          </a:p>
        </p:txBody>
      </p:sp>
      <p:sp>
        <p:nvSpPr>
          <p:cNvPr id="38" name="shape-280">
            <a:extLst xmlns:a="http://schemas.openxmlformats.org/drawingml/2006/main">
              <a:ext uri="{FF2B5EF4-FFF2-40B4-BE49-F238E27FC236}">
                <a16:creationId xmlns:a16="http://schemas.microsoft.com/office/drawing/2014/main" id="{0E633F4E-20E9-44FB-9B4C-5F8EE6D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43450"/>
            <a:ext cx="6467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向量成功时按阈值筛选；失败时回退 BM25</a:t>
            </a:r>
          </a:p>
        </p:txBody>
      </p:sp>
      <p:sp>
        <p:nvSpPr>
          <p:cNvPr id="39" name="shape-281">
            <a:extLst xmlns:a="http://schemas.openxmlformats.org/drawingml/2006/main">
              <a:ext uri="{FF2B5EF4-FFF2-40B4-BE49-F238E27FC236}">
                <a16:creationId xmlns:a16="http://schemas.microsoft.com/office/drawing/2014/main" id="{7AB43355-22DB-4E8B-835B-B57B861C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9251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hape-282">
            <a:extLst xmlns:a="http://schemas.openxmlformats.org/drawingml/2006/main">
              <a:ext uri="{FF2B5EF4-FFF2-40B4-BE49-F238E27FC236}">
                <a16:creationId xmlns:a16="http://schemas.microsoft.com/office/drawing/2014/main" id="{796A7EF0-23AF-4148-ADA7-67A80EEC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673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专家生成建议     ·     来源与评分留痕     ·     回到后续教学讨论</a:t>
            </a:r>
          </a:p>
        </p:txBody>
      </p:sp>
    </p:spTree>
    <p:extLst>
      <p:ext uri="{BB962C8B-B14F-4D97-AF65-F5344CB8AC3E}">
        <p14:creationId xmlns:p14="http://schemas.microsoft.com/office/powerpoint/2010/main" val="20786865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hape-283">
            <a:extLst xmlns:a="http://schemas.openxmlformats.org/drawingml/2006/main">
              <a:ext uri="{FF2B5EF4-FFF2-40B4-BE49-F238E27FC236}">
                <a16:creationId xmlns:a16="http://schemas.microsoft.com/office/drawing/2014/main" id="{4182775D-E9CC-411C-AB10-8A1F1BC9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基础闭环已具备，平台化与规模验证仍待推进</a:t>
            </a:r>
          </a:p>
        </p:txBody>
      </p:sp>
      <p:sp>
        <p:nvSpPr>
          <p:cNvPr id="2" name="shape-284">
            <a:extLst xmlns:a="http://schemas.openxmlformats.org/drawingml/2006/main">
              <a:ext uri="{FF2B5EF4-FFF2-40B4-BE49-F238E27FC236}">
                <a16:creationId xmlns:a16="http://schemas.microsoft.com/office/drawing/2014/main" id="{718DCF93-C965-4534-8F96-87CEEB01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当前覆盖教师设计流程，学校组织与课堂数据仍属规划</a:t>
            </a:r>
          </a:p>
        </p:txBody>
      </p:sp>
      <p:sp>
        <p:nvSpPr>
          <p:cNvPr id="3" name="shape-285">
            <a:extLst xmlns:a="http://schemas.openxmlformats.org/drawingml/2006/main">
              <a:ext uri="{FF2B5EF4-FFF2-40B4-BE49-F238E27FC236}">
                <a16:creationId xmlns:a16="http://schemas.microsoft.com/office/drawing/2014/main" id="{8FEF332D-53D9-4C7D-9C99-9893A0A9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shape-286">
            <a:extLst xmlns:a="http://schemas.openxmlformats.org/drawingml/2006/main">
              <a:ext uri="{FF2B5EF4-FFF2-40B4-BE49-F238E27FC236}">
                <a16:creationId xmlns:a16="http://schemas.microsoft.com/office/drawing/2014/main" id="{0BDC4ECB-3377-49A3-B7C8-0BCF794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2882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hape-287">
            <a:extLst xmlns:a="http://schemas.openxmlformats.org/drawingml/2006/main">
              <a:ext uri="{FF2B5EF4-FFF2-40B4-BE49-F238E27FC236}">
                <a16:creationId xmlns:a16="http://schemas.microsoft.com/office/drawing/2014/main" id="{892BBFD8-D955-4255-B125-69511743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193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6" name="shape-288">
            <a:extLst xmlns:a="http://schemas.openxmlformats.org/drawingml/2006/main">
              <a:ext uri="{FF2B5EF4-FFF2-40B4-BE49-F238E27FC236}">
                <a16:creationId xmlns:a16="http://schemas.microsoft.com/office/drawing/2014/main" id="{FA041A09-7E24-4C08-A22E-692498C5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3476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已形成基础闭环</a:t>
            </a:r>
          </a:p>
        </p:txBody>
      </p:sp>
      <p:sp>
        <p:nvSpPr>
          <p:cNvPr id="7" name="shape-289">
            <a:extLst xmlns:a="http://schemas.openxmlformats.org/drawingml/2006/main">
              <a:ext uri="{FF2B5EF4-FFF2-40B4-BE49-F238E27FC236}">
                <a16:creationId xmlns:a16="http://schemas.microsoft.com/office/drawing/2014/main" id="{63A817A3-190B-4A9A-A8D7-5AB62567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90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290">
            <a:extLst xmlns:a="http://schemas.openxmlformats.org/drawingml/2006/main">
              <a:ext uri="{FF2B5EF4-FFF2-40B4-BE49-F238E27FC236}">
                <a16:creationId xmlns:a16="http://schemas.microsoft.com/office/drawing/2014/main" id="{0776B9EC-C93A-4300-8884-1C6525E9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099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登录与会话隔离</a:t>
            </a:r>
          </a:p>
        </p:txBody>
      </p:sp>
      <p:sp>
        <p:nvSpPr>
          <p:cNvPr id="9" name="shape-291">
            <a:extLst xmlns:a="http://schemas.openxmlformats.org/drawingml/2006/main">
              <a:ext uri="{FF2B5EF4-FFF2-40B4-BE49-F238E27FC236}">
                <a16:creationId xmlns:a16="http://schemas.microsoft.com/office/drawing/2014/main" id="{44952E52-E233-45CD-AE38-A2C4220B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48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hape-292">
            <a:extLst xmlns:a="http://schemas.openxmlformats.org/drawingml/2006/main">
              <a:ext uri="{FF2B5EF4-FFF2-40B4-BE49-F238E27FC236}">
                <a16:creationId xmlns:a16="http://schemas.microsoft.com/office/drawing/2014/main" id="{2B78A629-F811-447E-A07E-689A6168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671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主导师与五位专家</a:t>
            </a:r>
          </a:p>
        </p:txBody>
      </p:sp>
      <p:sp>
        <p:nvSpPr>
          <p:cNvPr id="11" name="shape-293">
            <a:extLst xmlns:a="http://schemas.openxmlformats.org/drawingml/2006/main">
              <a:ext uri="{FF2B5EF4-FFF2-40B4-BE49-F238E27FC236}">
                <a16:creationId xmlns:a16="http://schemas.microsoft.com/office/drawing/2014/main" id="{4D777692-83B2-43BE-874F-16482C8C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05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hape-294">
            <a:extLst xmlns:a="http://schemas.openxmlformats.org/drawingml/2006/main">
              <a:ext uri="{FF2B5EF4-FFF2-40B4-BE49-F238E27FC236}">
                <a16:creationId xmlns:a16="http://schemas.microsoft.com/office/drawing/2014/main" id="{323D9854-B3E8-4D5D-A41C-D8688C14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243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阶段讨论与草案审阅</a:t>
            </a:r>
          </a:p>
        </p:txBody>
      </p:sp>
      <p:sp>
        <p:nvSpPr>
          <p:cNvPr id="13" name="shape-295">
            <a:extLst xmlns:a="http://schemas.openxmlformats.org/drawingml/2006/main">
              <a:ext uri="{FF2B5EF4-FFF2-40B4-BE49-F238E27FC236}">
                <a16:creationId xmlns:a16="http://schemas.microsoft.com/office/drawing/2014/main" id="{AA040EF1-742E-4332-AD9B-3F89B832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-296">
            <a:extLst xmlns:a="http://schemas.openxmlformats.org/drawingml/2006/main">
              <a:ext uri="{FF2B5EF4-FFF2-40B4-BE49-F238E27FC236}">
                <a16:creationId xmlns:a16="http://schemas.microsoft.com/office/drawing/2014/main" id="{1408AB3D-EF53-4EB5-AAA6-DAD5F3ED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5815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SSE / 中断 / 回滚</a:t>
            </a:r>
          </a:p>
        </p:txBody>
      </p:sp>
      <p:sp>
        <p:nvSpPr>
          <p:cNvPr id="15" name="shape-297">
            <a:extLst xmlns:a="http://schemas.openxmlformats.org/drawingml/2006/main">
              <a:ext uri="{FF2B5EF4-FFF2-40B4-BE49-F238E27FC236}">
                <a16:creationId xmlns:a16="http://schemas.microsoft.com/office/drawing/2014/main" id="{0FC242E0-4777-47AB-9AED-DDE05966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ape-298">
            <a:extLst xmlns:a="http://schemas.openxmlformats.org/drawingml/2006/main">
              <a:ext uri="{FF2B5EF4-FFF2-40B4-BE49-F238E27FC236}">
                <a16:creationId xmlns:a16="http://schemas.microsoft.com/office/drawing/2014/main" id="{346B1A49-16C3-4E68-8114-44557FAD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387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Markdown 导出</a:t>
            </a:r>
          </a:p>
        </p:txBody>
      </p:sp>
      <p:sp>
        <p:nvSpPr>
          <p:cNvPr id="17" name="shape-299">
            <a:extLst xmlns:a="http://schemas.openxmlformats.org/drawingml/2006/main">
              <a:ext uri="{FF2B5EF4-FFF2-40B4-BE49-F238E27FC236}">
                <a16:creationId xmlns:a16="http://schemas.microsoft.com/office/drawing/2014/main" id="{E4433766-6D55-4A71-B9A6-A7BEE948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28825"/>
            <a:ext cx="3476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hape-300">
            <a:extLst xmlns:a="http://schemas.openxmlformats.org/drawingml/2006/main">
              <a:ext uri="{FF2B5EF4-FFF2-40B4-BE49-F238E27FC236}">
                <a16:creationId xmlns:a16="http://schemas.microsoft.com/office/drawing/2014/main" id="{CD963438-4F18-483E-B077-A659DAD1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19325"/>
            <a:ext cx="3476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19" name="shape-301">
            <a:extLst xmlns:a="http://schemas.openxmlformats.org/drawingml/2006/main">
              <a:ext uri="{FF2B5EF4-FFF2-40B4-BE49-F238E27FC236}">
                <a16:creationId xmlns:a16="http://schemas.microsoft.com/office/drawing/2014/main" id="{C0A4FDC6-71C5-4F1D-B772-3F7C32D2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3476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已具备支撑能力</a:t>
            </a:r>
          </a:p>
        </p:txBody>
      </p:sp>
      <p:sp>
        <p:nvSpPr>
          <p:cNvPr id="20" name="shape-302">
            <a:extLst xmlns:a="http://schemas.openxmlformats.org/drawingml/2006/main">
              <a:ext uri="{FF2B5EF4-FFF2-40B4-BE49-F238E27FC236}">
                <a16:creationId xmlns:a16="http://schemas.microsoft.com/office/drawing/2014/main" id="{AB3BB917-A9BF-4B2D-A350-7F8ADD0D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90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-303">
            <a:extLst xmlns:a="http://schemas.openxmlformats.org/drawingml/2006/main">
              <a:ext uri="{FF2B5EF4-FFF2-40B4-BE49-F238E27FC236}">
                <a16:creationId xmlns:a16="http://schemas.microsoft.com/office/drawing/2014/main" id="{3DD465B1-A06B-4CB4-B1E7-36AA3E9B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99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会话资料解析</a:t>
            </a:r>
          </a:p>
        </p:txBody>
      </p:sp>
      <p:sp>
        <p:nvSpPr>
          <p:cNvPr id="22" name="shape-304">
            <a:extLst xmlns:a="http://schemas.openxmlformats.org/drawingml/2006/main">
              <a:ext uri="{FF2B5EF4-FFF2-40B4-BE49-F238E27FC236}">
                <a16:creationId xmlns:a16="http://schemas.microsoft.com/office/drawing/2014/main" id="{CA12AE32-BDE1-4E6C-93D9-3E66711E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hape-305">
            <a:extLst xmlns:a="http://schemas.openxmlformats.org/drawingml/2006/main">
              <a:ext uri="{FF2B5EF4-FFF2-40B4-BE49-F238E27FC236}">
                <a16:creationId xmlns:a16="http://schemas.microsoft.com/office/drawing/2014/main" id="{8F1CB980-6BD3-4499-AA51-82CB573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671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课程知识混合检索</a:t>
            </a:r>
          </a:p>
        </p:txBody>
      </p:sp>
      <p:sp>
        <p:nvSpPr>
          <p:cNvPr id="24" name="shape-306">
            <a:extLst xmlns:a="http://schemas.openxmlformats.org/drawingml/2006/main">
              <a:ext uri="{FF2B5EF4-FFF2-40B4-BE49-F238E27FC236}">
                <a16:creationId xmlns:a16="http://schemas.microsoft.com/office/drawing/2014/main" id="{CA74A391-08FF-495F-A3DF-0E0DE8BE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hape-307">
            <a:extLst xmlns:a="http://schemas.openxmlformats.org/drawingml/2006/main">
              <a:ext uri="{FF2B5EF4-FFF2-40B4-BE49-F238E27FC236}">
                <a16:creationId xmlns:a16="http://schemas.microsoft.com/office/drawing/2014/main" id="{DC05CD6A-8948-4C65-8431-CAC53C77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243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文件级专家授权</a:t>
            </a:r>
          </a:p>
        </p:txBody>
      </p:sp>
      <p:sp>
        <p:nvSpPr>
          <p:cNvPr id="26" name="shape-308">
            <a:extLst xmlns:a="http://schemas.openxmlformats.org/drawingml/2006/main">
              <a:ext uri="{FF2B5EF4-FFF2-40B4-BE49-F238E27FC236}">
                <a16:creationId xmlns:a16="http://schemas.microsoft.com/office/drawing/2014/main" id="{011EC585-3474-4132-986F-4FE12A9A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62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hape-309">
            <a:extLst xmlns:a="http://schemas.openxmlformats.org/drawingml/2006/main">
              <a:ext uri="{FF2B5EF4-FFF2-40B4-BE49-F238E27FC236}">
                <a16:creationId xmlns:a16="http://schemas.microsoft.com/office/drawing/2014/main" id="{5D540088-3D1F-4986-912A-F7A80E36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815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检索来源与评分审计</a:t>
            </a:r>
          </a:p>
        </p:txBody>
      </p:sp>
      <p:sp>
        <p:nvSpPr>
          <p:cNvPr id="28" name="shape-310">
            <a:extLst xmlns:a="http://schemas.openxmlformats.org/drawingml/2006/main">
              <a:ext uri="{FF2B5EF4-FFF2-40B4-BE49-F238E27FC236}">
                <a16:creationId xmlns:a16="http://schemas.microsoft.com/office/drawing/2014/main" id="{5871DD4D-7EB0-43D7-BE30-3E99F602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19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7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hape-311">
            <a:extLst xmlns:a="http://schemas.openxmlformats.org/drawingml/2006/main">
              <a:ext uri="{FF2B5EF4-FFF2-40B4-BE49-F238E27FC236}">
                <a16:creationId xmlns:a16="http://schemas.microsoft.com/office/drawing/2014/main" id="{7E511D1C-6685-49F6-97E9-703E61F4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387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课标管理界面</a:t>
            </a:r>
          </a:p>
        </p:txBody>
      </p:sp>
      <p:sp>
        <p:nvSpPr>
          <p:cNvPr id="30" name="shape-312">
            <a:extLst xmlns:a="http://schemas.openxmlformats.org/drawingml/2006/main">
              <a:ext uri="{FF2B5EF4-FFF2-40B4-BE49-F238E27FC236}">
                <a16:creationId xmlns:a16="http://schemas.microsoft.com/office/drawing/2014/main" id="{05620CE3-4EFF-4157-96C2-0A5CE410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28825"/>
            <a:ext cx="35147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hape-313">
            <a:extLst xmlns:a="http://schemas.openxmlformats.org/drawingml/2006/main">
              <a:ext uri="{FF2B5EF4-FFF2-40B4-BE49-F238E27FC236}">
                <a16:creationId xmlns:a16="http://schemas.microsoft.com/office/drawing/2014/main" id="{B0B979D8-B855-43F5-B633-37587BE4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19325"/>
            <a:ext cx="3514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67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67239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32" name="shape-314">
            <a:extLst xmlns:a="http://schemas.openxmlformats.org/drawingml/2006/main">
              <a:ext uri="{FF2B5EF4-FFF2-40B4-BE49-F238E27FC236}">
                <a16:creationId xmlns:a16="http://schemas.microsoft.com/office/drawing/2014/main" id="{5233A7B4-4AA0-430D-8909-2055DF04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5147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进入真实试点</a:t>
            </a:r>
          </a:p>
        </p:txBody>
      </p:sp>
      <p:sp>
        <p:nvSpPr>
          <p:cNvPr id="33" name="shape-315">
            <a:extLst xmlns:a="http://schemas.openxmlformats.org/drawingml/2006/main">
              <a:ext uri="{FF2B5EF4-FFF2-40B4-BE49-F238E27FC236}">
                <a16:creationId xmlns:a16="http://schemas.microsoft.com/office/drawing/2014/main" id="{886338C9-381D-46BC-AFA1-37D88964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90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hape-316">
            <a:extLst xmlns:a="http://schemas.openxmlformats.org/drawingml/2006/main">
              <a:ext uri="{FF2B5EF4-FFF2-40B4-BE49-F238E27FC236}">
                <a16:creationId xmlns:a16="http://schemas.microsoft.com/office/drawing/2014/main" id="{D804C2FB-FFFD-46C9-9C7A-30844EBF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9925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学校、班级与项目管理</a:t>
            </a:r>
          </a:p>
        </p:txBody>
      </p:sp>
      <p:sp>
        <p:nvSpPr>
          <p:cNvPr id="35" name="shape-317">
            <a:extLst xmlns:a="http://schemas.openxmlformats.org/drawingml/2006/main">
              <a:ext uri="{FF2B5EF4-FFF2-40B4-BE49-F238E27FC236}">
                <a16:creationId xmlns:a16="http://schemas.microsoft.com/office/drawing/2014/main" id="{4A3C6D5A-B250-4EDD-B560-812F9528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48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hape-318">
            <a:extLst xmlns:a="http://schemas.openxmlformats.org/drawingml/2006/main">
              <a:ext uri="{FF2B5EF4-FFF2-40B4-BE49-F238E27FC236}">
                <a16:creationId xmlns:a16="http://schemas.microsoft.com/office/drawing/2014/main" id="{39796BA8-04AF-4510-8269-44385D99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67125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学生观察记录与时间轴</a:t>
            </a:r>
          </a:p>
        </p:txBody>
      </p:sp>
      <p:sp>
        <p:nvSpPr>
          <p:cNvPr id="37" name="shape-319">
            <a:extLst xmlns:a="http://schemas.openxmlformats.org/drawingml/2006/main">
              <a:ext uri="{FF2B5EF4-FFF2-40B4-BE49-F238E27FC236}">
                <a16:creationId xmlns:a16="http://schemas.microsoft.com/office/drawing/2014/main" id="{CFD5DC2C-A735-46E7-BF67-29419C3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05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hape-320">
            <a:extLst xmlns:a="http://schemas.openxmlformats.org/drawingml/2006/main">
              <a:ext uri="{FF2B5EF4-FFF2-40B4-BE49-F238E27FC236}">
                <a16:creationId xmlns:a16="http://schemas.microsoft.com/office/drawing/2014/main" id="{4CD9ED7D-8C9D-463F-B188-DD415D8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长期档案与课程包</a:t>
            </a:r>
          </a:p>
        </p:txBody>
      </p:sp>
      <p:sp>
        <p:nvSpPr>
          <p:cNvPr id="39" name="shape-321">
            <a:extLst xmlns:a="http://schemas.openxmlformats.org/drawingml/2006/main">
              <a:ext uri="{FF2B5EF4-FFF2-40B4-BE49-F238E27FC236}">
                <a16:creationId xmlns:a16="http://schemas.microsoft.com/office/drawing/2014/main" id="{E3D8D25B-BD53-4629-A612-064B08F1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hape-322">
            <a:extLst xmlns:a="http://schemas.openxmlformats.org/drawingml/2006/main">
              <a:ext uri="{FF2B5EF4-FFF2-40B4-BE49-F238E27FC236}">
                <a16:creationId xmlns:a16="http://schemas.microsoft.com/office/drawing/2014/main" id="{7C51237B-F3BA-4925-BB78-46FC3082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81525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并发与稳定性验收</a:t>
            </a:r>
          </a:p>
        </p:txBody>
      </p:sp>
      <p:sp>
        <p:nvSpPr>
          <p:cNvPr id="41" name="shape-323">
            <a:extLst xmlns:a="http://schemas.openxmlformats.org/drawingml/2006/main">
              <a:ext uri="{FF2B5EF4-FFF2-40B4-BE49-F238E27FC236}">
                <a16:creationId xmlns:a16="http://schemas.microsoft.com/office/drawing/2014/main" id="{80A9CF41-C144-413F-B061-82EC90D5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19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7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shape-324">
            <a:extLst xmlns:a="http://schemas.openxmlformats.org/drawingml/2006/main">
              <a:ext uri="{FF2B5EF4-FFF2-40B4-BE49-F238E27FC236}">
                <a16:creationId xmlns:a16="http://schemas.microsoft.com/office/drawing/2014/main" id="{27464D70-5F7F-46B7-8F54-49338F8F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38725"/>
            <a:ext cx="327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教学质量系统评测</a:t>
            </a:r>
          </a:p>
        </p:txBody>
      </p:sp>
    </p:spTree>
    <p:extLst>
      <p:ext uri="{BB962C8B-B14F-4D97-AF65-F5344CB8AC3E}">
        <p14:creationId xmlns:p14="http://schemas.microsoft.com/office/powerpoint/2010/main" val="333188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hape-325">
            <a:extLst xmlns:a="http://schemas.openxmlformats.org/drawingml/2006/main">
              <a:ext uri="{FF2B5EF4-FFF2-40B4-BE49-F238E27FC236}">
                <a16:creationId xmlns:a16="http://schemas.microsoft.com/office/drawing/2014/main" id="{5B7FED14-C3CC-41DF-A55B-CC5661F3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价值落在教学过程，也留在可修改的成果中</a:t>
            </a:r>
          </a:p>
        </p:txBody>
      </p:sp>
      <p:sp>
        <p:nvSpPr>
          <p:cNvPr id="2" name="shape-326">
            <a:extLst xmlns:a="http://schemas.openxmlformats.org/drawingml/2006/main">
              <a:ext uri="{FF2B5EF4-FFF2-40B4-BE49-F238E27FC236}">
                <a16:creationId xmlns:a16="http://schemas.microsoft.com/office/drawing/2014/main" id="{D6C0D76D-F10F-43CC-8D81-482B6AC2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path-327">
            <a:extLst xmlns:a="http://schemas.openxmlformats.org/drawingml/2006/main">
              <a:ext uri="{FF2B5EF4-FFF2-40B4-BE49-F238E27FC236}">
                <a16:creationId xmlns:a16="http://schemas.microsoft.com/office/drawing/2014/main" id="{7C297495-8CC2-41E3-BAA4-1C8C666A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19275"/>
            <a:ext cx="9525" cy="3924300"/>
          </a:xfrm>
          <a:custGeom xmlns:a="http://schemas.openxmlformats.org/drawingml/2006/main">
            <a:pathLst>
              <a:path w="9525" h="3924300">
                <a:moveTo>
                  <a:pt x="0" y="0"/>
                </a:moveTo>
                <a:lnTo>
                  <a:pt x="0" y="392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6D9D0"/>
            </a:solidFill>
            <a:prstDash val="solid"/>
          </a:ln>
        </p:spPr>
      </p:sp>
      <p:sp>
        <p:nvSpPr>
          <p:cNvPr id="4" name="path-328">
            <a:extLst xmlns:a="http://schemas.openxmlformats.org/drawingml/2006/main">
              <a:ext uri="{FF2B5EF4-FFF2-40B4-BE49-F238E27FC236}">
                <a16:creationId xmlns:a16="http://schemas.microsoft.com/office/drawing/2014/main" id="{4C1A31E1-36AC-472B-A142-A84C58B9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71900"/>
            <a:ext cx="10906125" cy="9525"/>
          </a:xfrm>
          <a:custGeom xmlns:a="http://schemas.openxmlformats.org/drawingml/2006/main">
            <a:pathLst>
              <a:path w="10906125" h="9525">
                <a:moveTo>
                  <a:pt x="0" y="0"/>
                </a:moveTo>
                <a:lnTo>
                  <a:pt x="10906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6D9D0"/>
            </a:solidFill>
            <a:prstDash val="solid"/>
          </a:ln>
        </p:spPr>
      </p:sp>
      <p:sp>
        <p:nvSpPr>
          <p:cNvPr id="5" name="shape-329">
            <a:extLst xmlns:a="http://schemas.openxmlformats.org/drawingml/2006/main">
              <a:ext uri="{FF2B5EF4-FFF2-40B4-BE49-F238E27FC236}">
                <a16:creationId xmlns:a16="http://schemas.microsoft.com/office/drawing/2014/main" id="{DD16CAAE-C181-4776-BB8B-DEE60C6A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hape-330">
            <a:extLst xmlns:a="http://schemas.openxmlformats.org/drawingml/2006/main">
              <a:ext uri="{FF2B5EF4-FFF2-40B4-BE49-F238E27FC236}">
                <a16:creationId xmlns:a16="http://schemas.microsoft.com/office/drawing/2014/main" id="{7DB5E2E8-0991-4C5A-8BED-A307109A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924050"/>
            <a:ext cx="4010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持续迭代</a:t>
            </a:r>
          </a:p>
        </p:txBody>
      </p:sp>
      <p:sp>
        <p:nvSpPr>
          <p:cNvPr id="7" name="shape-331">
            <a:extLst xmlns:a="http://schemas.openxmlformats.org/drawingml/2006/main">
              <a:ext uri="{FF2B5EF4-FFF2-40B4-BE49-F238E27FC236}">
                <a16:creationId xmlns:a16="http://schemas.microsoft.com/office/drawing/2014/main" id="{A1A36D8B-C915-40A8-8A95-2331D0E4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657475"/>
            <a:ext cx="4152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围绕同一主题反复讨论，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让一次生成成为持续设计。</a:t>
            </a:r>
          </a:p>
        </p:txBody>
      </p:sp>
      <p:sp>
        <p:nvSpPr>
          <p:cNvPr id="8" name="shape-332">
            <a:extLst xmlns:a="http://schemas.openxmlformats.org/drawingml/2006/main">
              <a:ext uri="{FF2B5EF4-FFF2-40B4-BE49-F238E27FC236}">
                <a16:creationId xmlns:a16="http://schemas.microsoft.com/office/drawing/2014/main" id="{6C324C58-BB52-4C6F-913D-133BDD9D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shape-333">
            <a:extLst xmlns:a="http://schemas.openxmlformats.org/drawingml/2006/main">
              <a:ext uri="{FF2B5EF4-FFF2-40B4-BE49-F238E27FC236}">
                <a16:creationId xmlns:a16="http://schemas.microsoft.com/office/drawing/2014/main" id="{22D7C555-AEBC-422D-8B58-7E3ED8C1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924050"/>
            <a:ext cx="4010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阶段化探究</a:t>
            </a:r>
          </a:p>
        </p:txBody>
      </p:sp>
      <p:sp>
        <p:nvSpPr>
          <p:cNvPr id="10" name="shape-334">
            <a:extLst xmlns:a="http://schemas.openxmlformats.org/drawingml/2006/main">
              <a:ext uri="{FF2B5EF4-FFF2-40B4-BE49-F238E27FC236}">
                <a16:creationId xmlns:a16="http://schemas.microsoft.com/office/drawing/2014/main" id="{F946A9FE-0F98-4D4A-9FB7-C52FA659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57475"/>
            <a:ext cx="4152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把问题、假设、验证与解释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组织为可推进的教学过程。</a:t>
            </a:r>
          </a:p>
        </p:txBody>
      </p:sp>
      <p:sp>
        <p:nvSpPr>
          <p:cNvPr id="11" name="shape-335">
            <a:extLst xmlns:a="http://schemas.openxmlformats.org/drawingml/2006/main">
              <a:ext uri="{FF2B5EF4-FFF2-40B4-BE49-F238E27FC236}">
                <a16:creationId xmlns:a16="http://schemas.microsoft.com/office/drawing/2014/main" id="{406B41F9-7F69-4FD5-AD64-68A40DBD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shape-336">
            <a:extLst xmlns:a="http://schemas.openxmlformats.org/drawingml/2006/main">
              <a:ext uri="{FF2B5EF4-FFF2-40B4-BE49-F238E27FC236}">
                <a16:creationId xmlns:a16="http://schemas.microsoft.com/office/drawing/2014/main" id="{4092731F-669C-45C5-BC6A-7FD80615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029075"/>
            <a:ext cx="4010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专业协同</a:t>
            </a:r>
          </a:p>
        </p:txBody>
      </p:sp>
      <p:sp>
        <p:nvSpPr>
          <p:cNvPr id="13" name="shape-337">
            <a:extLst xmlns:a="http://schemas.openxmlformats.org/drawingml/2006/main">
              <a:ext uri="{FF2B5EF4-FFF2-40B4-BE49-F238E27FC236}">
                <a16:creationId xmlns:a16="http://schemas.microsoft.com/office/drawing/2014/main" id="{5C1273EB-FAB3-41EA-A3A6-88F08AE8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762500"/>
            <a:ext cx="4152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主导师保持教学主线，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所选专家补充专业视角。</a:t>
            </a:r>
          </a:p>
        </p:txBody>
      </p:sp>
      <p:sp>
        <p:nvSpPr>
          <p:cNvPr id="14" name="shape-338">
            <a:extLst xmlns:a="http://schemas.openxmlformats.org/drawingml/2006/main">
              <a:ext uri="{FF2B5EF4-FFF2-40B4-BE49-F238E27FC236}">
                <a16:creationId xmlns:a16="http://schemas.microsoft.com/office/drawing/2014/main" id="{28375CE0-9236-4194-A53E-EA0862EF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290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shape-339">
            <a:extLst xmlns:a="http://schemas.openxmlformats.org/drawingml/2006/main">
              <a:ext uri="{FF2B5EF4-FFF2-40B4-BE49-F238E27FC236}">
                <a16:creationId xmlns:a16="http://schemas.microsoft.com/office/drawing/2014/main" id="{6E95A139-2A32-4297-82C6-72E61FB3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029075"/>
            <a:ext cx="4010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成果沉淀</a:t>
            </a:r>
          </a:p>
        </p:txBody>
      </p:sp>
      <p:sp>
        <p:nvSpPr>
          <p:cNvPr id="16" name="shape-340">
            <a:extLst xmlns:a="http://schemas.openxmlformats.org/drawingml/2006/main">
              <a:ext uri="{FF2B5EF4-FFF2-40B4-BE49-F238E27FC236}">
                <a16:creationId xmlns:a16="http://schemas.microsoft.com/office/drawing/2014/main" id="{C1E36C9B-9E1C-4516-9769-A0AFCF41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762500"/>
            <a:ext cx="4152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对话、草案与检索记录可留存，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教学方案可以修改与导出。</a:t>
            </a:r>
          </a:p>
        </p:txBody>
      </p:sp>
    </p:spTree>
    <p:extLst>
      <p:ext uri="{BB962C8B-B14F-4D97-AF65-F5344CB8AC3E}">
        <p14:creationId xmlns:p14="http://schemas.microsoft.com/office/powerpoint/2010/main" val="2212036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-341">
            <a:extLst xmlns:a="http://schemas.openxmlformats.org/drawingml/2006/main">
              <a:ext uri="{FF2B5EF4-FFF2-40B4-BE49-F238E27FC236}">
                <a16:creationId xmlns:a16="http://schemas.microsoft.com/office/drawing/2014/main" id="{FEFB72B4-DAA1-4B8A-9DCF-78456243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下一步，让备课成果进入真实自然探究项目</a:t>
            </a:r>
          </a:p>
        </p:txBody>
      </p:sp>
      <p:sp>
        <p:nvSpPr>
          <p:cNvPr id="2" name="shape-342">
            <a:extLst xmlns:a="http://schemas.openxmlformats.org/drawingml/2006/main">
              <a:ext uri="{FF2B5EF4-FFF2-40B4-BE49-F238E27FC236}">
                <a16:creationId xmlns:a16="http://schemas.microsoft.com/office/drawing/2014/main" id="{C2888B5B-7A46-46DE-AF05-46884F70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发展路线 · 以下均为规划，先做标杆场景，再进入多人试点</a:t>
            </a:r>
          </a:p>
        </p:txBody>
      </p:sp>
      <p:sp>
        <p:nvSpPr>
          <p:cNvPr id="3" name="shape-343">
            <a:extLst xmlns:a="http://schemas.openxmlformats.org/drawingml/2006/main">
              <a:ext uri="{FF2B5EF4-FFF2-40B4-BE49-F238E27FC236}">
                <a16:creationId xmlns:a16="http://schemas.microsoft.com/office/drawing/2014/main" id="{E20E0BE4-6CDE-4656-BCA5-885B7551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722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path-344">
            <a:extLst xmlns:a="http://schemas.openxmlformats.org/drawingml/2006/main">
              <a:ext uri="{FF2B5EF4-FFF2-40B4-BE49-F238E27FC236}">
                <a16:creationId xmlns:a16="http://schemas.microsoft.com/office/drawing/2014/main" id="{1BB9DA90-0EC9-4891-97CC-0F3C55F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95600"/>
            <a:ext cx="10344150" cy="9525"/>
          </a:xfrm>
          <a:custGeom xmlns:a="http://schemas.openxmlformats.org/drawingml/2006/main">
            <a:pathLst>
              <a:path w="10344150" h="9525">
                <a:moveTo>
                  <a:pt x="0" y="0"/>
                </a:moveTo>
                <a:lnTo>
                  <a:pt x="10344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C6D9D0"/>
            </a:solidFill>
            <a:prstDash val="solid"/>
          </a:ln>
        </p:spPr>
      </p:sp>
      <p:sp>
        <p:nvSpPr>
          <p:cNvPr id="5" name="path-345">
            <a:extLst xmlns:a="http://schemas.openxmlformats.org/drawingml/2006/main">
              <a:ext uri="{FF2B5EF4-FFF2-40B4-BE49-F238E27FC236}">
                <a16:creationId xmlns:a16="http://schemas.microsoft.com/office/drawing/2014/main" id="{AE9E883B-7D35-4B36-9E43-0FA97A5C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942" y="2850793"/>
            <a:ext cx="73083" cy="89615"/>
          </a:xfrm>
          <a:custGeom xmlns:a="http://schemas.openxmlformats.org/drawingml/2006/main">
            <a:pathLst>
              <a:path w="73083" h="89615">
                <a:moveTo>
                  <a:pt x="0" y="89615"/>
                </a:moveTo>
                <a:lnTo>
                  <a:pt x="73083" y="4480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C6D9D0"/>
            </a:solidFill>
            <a:prstDash val="solid"/>
          </a:ln>
        </p:spPr>
      </p:sp>
      <p:sp>
        <p:nvSpPr>
          <p:cNvPr id="6" name="shape-346">
            <a:extLst xmlns:a="http://schemas.openxmlformats.org/drawingml/2006/main">
              <a:ext uri="{FF2B5EF4-FFF2-40B4-BE49-F238E27FC236}">
                <a16:creationId xmlns:a16="http://schemas.microsoft.com/office/drawing/2014/main" id="{6B7BA404-CE39-4994-B556-407E4B83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9"/>
          </a:solidFill>
          <a:ln xmlns:a="http://schemas.openxmlformats.org/drawingml/2006/main" w="38100">
            <a:solidFill>
              <a:srgbClr val="187D70"/>
            </a:solidFill>
            <a:prstDash val="solid"/>
          </a:ln>
        </p:spPr>
      </p:sp>
      <p:sp>
        <p:nvSpPr>
          <p:cNvPr id="7" name="shape-347">
            <a:extLst xmlns:a="http://schemas.openxmlformats.org/drawingml/2006/main">
              <a:ext uri="{FF2B5EF4-FFF2-40B4-BE49-F238E27FC236}">
                <a16:creationId xmlns:a16="http://schemas.microsoft.com/office/drawing/2014/main" id="{57E67DDF-5F28-49A7-9837-C0E5DF5F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NOW</a:t>
            </a:r>
          </a:p>
        </p:txBody>
      </p:sp>
      <p:sp>
        <p:nvSpPr>
          <p:cNvPr id="8" name="shape-348">
            <a:extLst xmlns:a="http://schemas.openxmlformats.org/drawingml/2006/main">
              <a:ext uri="{FF2B5EF4-FFF2-40B4-BE49-F238E27FC236}">
                <a16:creationId xmlns:a16="http://schemas.microsoft.com/office/drawing/2014/main" id="{4170013C-E2E3-4681-BC1F-408CE725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2670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打磨标杆场景</a:t>
            </a:r>
          </a:p>
        </p:txBody>
      </p:sp>
      <p:sp>
        <p:nvSpPr>
          <p:cNvPr id="9" name="shape-349">
            <a:extLst xmlns:a="http://schemas.openxmlformats.org/drawingml/2006/main">
              <a:ext uri="{FF2B5EF4-FFF2-40B4-BE49-F238E27FC236}">
                <a16:creationId xmlns:a16="http://schemas.microsoft.com/office/drawing/2014/main" id="{EE70B608-A8BA-4B12-BE1C-311BFD47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838575"/>
            <a:ext cx="2914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昆虫生命周期观察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课程包与工作台样例</a:t>
            </a:r>
          </a:p>
        </p:txBody>
      </p:sp>
      <p:sp>
        <p:nvSpPr>
          <p:cNvPr id="10" name="shape-350">
            <a:extLst xmlns:a="http://schemas.openxmlformats.org/drawingml/2006/main">
              <a:ext uri="{FF2B5EF4-FFF2-40B4-BE49-F238E27FC236}">
                <a16:creationId xmlns:a16="http://schemas.microsoft.com/office/drawing/2014/main" id="{13765558-B020-4E3A-8C19-63C63F54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9"/>
          </a:solidFill>
          <a:ln xmlns:a="http://schemas.openxmlformats.org/drawingml/2006/main" w="38100">
            <a:solidFill>
              <a:srgbClr val="367B98"/>
            </a:solidFill>
            <a:prstDash val="solid"/>
          </a:ln>
        </p:spPr>
      </p:sp>
      <p:sp>
        <p:nvSpPr>
          <p:cNvPr id="11" name="shape-351">
            <a:extLst xmlns:a="http://schemas.openxmlformats.org/drawingml/2006/main">
              <a:ext uri="{FF2B5EF4-FFF2-40B4-BE49-F238E27FC236}">
                <a16:creationId xmlns:a16="http://schemas.microsoft.com/office/drawing/2014/main" id="{61BF9514-979A-4119-8076-A69999E4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193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67B98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12" name="shape-352">
            <a:extLst xmlns:a="http://schemas.openxmlformats.org/drawingml/2006/main">
              <a:ext uri="{FF2B5EF4-FFF2-40B4-BE49-F238E27FC236}">
                <a16:creationId xmlns:a16="http://schemas.microsoft.com/office/drawing/2014/main" id="{131C1494-AD2B-4559-BCAD-85A07551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2670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扩展平台管理</a:t>
            </a:r>
          </a:p>
        </p:txBody>
      </p:sp>
      <p:sp>
        <p:nvSpPr>
          <p:cNvPr id="13" name="shape-353">
            <a:extLst xmlns:a="http://schemas.openxmlformats.org/drawingml/2006/main">
              <a:ext uri="{FF2B5EF4-FFF2-40B4-BE49-F238E27FC236}">
                <a16:creationId xmlns:a16="http://schemas.microsoft.com/office/drawing/2014/main" id="{67C62C56-453F-415D-974F-A4344A13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838575"/>
            <a:ext cx="2914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学校、班级、项目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组织权限与知识库扩展</a:t>
            </a:r>
          </a:p>
        </p:txBody>
      </p:sp>
      <p:sp>
        <p:nvSpPr>
          <p:cNvPr id="14" name="shape-354">
            <a:extLst xmlns:a="http://schemas.openxmlformats.org/drawingml/2006/main">
              <a:ext uri="{FF2B5EF4-FFF2-40B4-BE49-F238E27FC236}">
                <a16:creationId xmlns:a16="http://schemas.microsoft.com/office/drawing/2014/main" id="{B2CBA67A-4C5D-40CE-A75F-C5D00A5B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CF9"/>
          </a:solidFill>
          <a:ln xmlns:a="http://schemas.openxmlformats.org/drawingml/2006/main" w="38100">
            <a:solidFill>
              <a:srgbClr val="967239"/>
            </a:solidFill>
            <a:prstDash val="solid"/>
          </a:ln>
        </p:spPr>
      </p:sp>
      <p:sp>
        <p:nvSpPr>
          <p:cNvPr id="15" name="shape-355">
            <a:extLst xmlns:a="http://schemas.openxmlformats.org/drawingml/2006/main">
              <a:ext uri="{FF2B5EF4-FFF2-40B4-BE49-F238E27FC236}">
                <a16:creationId xmlns:a16="http://schemas.microsoft.com/office/drawing/2014/main" id="{13D75BB1-0B7A-46E9-A9E8-3B784A85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193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67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967239"/>
                </a:solidFill>
                <a:latin typeface="Microsoft YaHei"/>
                <a:ea typeface="Microsoft YaHei"/>
                <a:cs typeface="Microsoft YaHei"/>
              </a:rPr>
              <a:t>FUTURE</a:t>
            </a:r>
          </a:p>
        </p:txBody>
      </p:sp>
      <p:sp>
        <p:nvSpPr>
          <p:cNvPr id="16" name="shape-356">
            <a:extLst xmlns:a="http://schemas.openxmlformats.org/drawingml/2006/main">
              <a:ext uri="{FF2B5EF4-FFF2-40B4-BE49-F238E27FC236}">
                <a16:creationId xmlns:a16="http://schemas.microsoft.com/office/drawing/2014/main" id="{1ADFC615-7D8C-4122-A787-D157A813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67075"/>
            <a:ext cx="2819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形成课堂数据闭环</a:t>
            </a:r>
          </a:p>
        </p:txBody>
      </p:sp>
      <p:sp>
        <p:nvSpPr>
          <p:cNvPr id="17" name="shape-357">
            <a:extLst xmlns:a="http://schemas.openxmlformats.org/drawingml/2006/main">
              <a:ext uri="{FF2B5EF4-FFF2-40B4-BE49-F238E27FC236}">
                <a16:creationId xmlns:a16="http://schemas.microsoft.com/office/drawing/2014/main" id="{2AEFBC4F-DAB0-4817-BBF1-63040E58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38575"/>
            <a:ext cx="29146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学生记录、图片与传感器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长期档案与区域项目</a:t>
            </a:r>
          </a:p>
        </p:txBody>
      </p:sp>
      <p:sp>
        <p:nvSpPr>
          <p:cNvPr id="18" name="shape-358">
            <a:extLst xmlns:a="http://schemas.openxmlformats.org/drawingml/2006/main">
              <a:ext uri="{FF2B5EF4-FFF2-40B4-BE49-F238E27FC236}">
                <a16:creationId xmlns:a16="http://schemas.microsoft.com/office/drawing/2014/main" id="{0A838320-DD6D-4087-92A2-3DC82DF0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9347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ape-359">
            <a:extLst xmlns:a="http://schemas.openxmlformats.org/drawingml/2006/main">
              <a:ext uri="{FF2B5EF4-FFF2-40B4-BE49-F238E27FC236}">
                <a16:creationId xmlns:a16="http://schemas.microsoft.com/office/drawing/2014/main" id="{CD3C3E74-5796-4113-8D90-8188678D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试点前验证</a:t>
            </a:r>
          </a:p>
        </p:txBody>
      </p:sp>
      <p:sp>
        <p:nvSpPr>
          <p:cNvPr id="20" name="path-360">
            <a:extLst xmlns:a="http://schemas.openxmlformats.org/drawingml/2006/main">
              <a:ext uri="{FF2B5EF4-FFF2-40B4-BE49-F238E27FC236}">
                <a16:creationId xmlns:a16="http://schemas.microsoft.com/office/drawing/2014/main" id="{B8BA79DE-6D6E-47E0-898F-F278D594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362575"/>
            <a:ext cx="9525" cy="504825"/>
          </a:xfrm>
          <a:custGeom xmlns:a="http://schemas.openxmlformats.org/drawingml/2006/main">
            <a:pathLst>
              <a:path w="9525" h="504825">
                <a:moveTo>
                  <a:pt x="0" y="0"/>
                </a:moveTo>
                <a:lnTo>
                  <a:pt x="0" y="504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6D9D0"/>
            </a:solidFill>
            <a:prstDash val="solid"/>
          </a:ln>
        </p:spPr>
      </p:sp>
      <p:sp>
        <p:nvSpPr>
          <p:cNvPr id="21" name="shape-361">
            <a:extLst xmlns:a="http://schemas.openxmlformats.org/drawingml/2006/main">
              <a:ext uri="{FF2B5EF4-FFF2-40B4-BE49-F238E27FC236}">
                <a16:creationId xmlns:a16="http://schemas.microsoft.com/office/drawing/2014/main" id="{53AB89C7-0FDE-4151-BCA3-040AB15A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67325"/>
            <a:ext cx="8420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建议目标：20 并发教师 · 核心流程成功率 ≥95%</a:t>
            </a:r>
          </a:p>
          <a:p xmlns:a="http://schemas.openxmlformats.org/drawingml/2006/main">
            <a:pPr algn="l">
              <a:def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重点：会话隔离、SSE 中断、权限变更、索引重建与降级</a:t>
            </a:r>
          </a:p>
        </p:txBody>
      </p:sp>
    </p:spTree>
    <p:extLst>
      <p:ext uri="{BB962C8B-B14F-4D97-AF65-F5344CB8AC3E}">
        <p14:creationId xmlns:p14="http://schemas.microsoft.com/office/powerpoint/2010/main" val="6290694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hape-362">
            <a:extLst xmlns:a="http://schemas.openxmlformats.org/drawingml/2006/main">
              <a:ext uri="{FF2B5EF4-FFF2-40B4-BE49-F238E27FC236}">
                <a16:creationId xmlns:a16="http://schemas.microsoft.com/office/drawing/2014/main" id="{10A2FB27-E783-4B5B-BE55-5C44A0C1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619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D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hape-363">
            <a:extLst xmlns:a="http://schemas.openxmlformats.org/drawingml/2006/main">
              <a:ext uri="{FF2B5EF4-FFF2-40B4-BE49-F238E27FC236}">
                <a16:creationId xmlns:a16="http://schemas.microsoft.com/office/drawing/2014/main" id="{C8D4FC7A-106A-4088-95FD-CC4F8B5A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7537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让每一个好问题，</a:t>
            </a:r>
          </a:p>
          <a:p xmlns:a="http://schemas.openxmlformats.org/drawingml/2006/main">
            <a:pPr algn="l">
              <a:defRPr sz="45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83B3C"/>
                </a:solidFill>
                <a:latin typeface="Microsoft YaHei"/>
                <a:ea typeface="Microsoft YaHei"/>
                <a:cs typeface="Microsoft YaHei"/>
              </a:rPr>
              <a:t>都成为探究的起点。</a:t>
            </a:r>
          </a:p>
        </p:txBody>
      </p:sp>
      <p:sp>
        <p:nvSpPr>
          <p:cNvPr id="3" name="shape-364">
            <a:extLst xmlns:a="http://schemas.openxmlformats.org/drawingml/2006/main">
              <a:ext uri="{FF2B5EF4-FFF2-40B4-BE49-F238E27FC236}">
                <a16:creationId xmlns:a16="http://schemas.microsoft.com/office/drawing/2014/main" id="{840BBA58-BD17-48B3-AE7A-31E5DE6B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82296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AI 探究式教学助手</a:t>
            </a:r>
          </a:p>
          <a:p xmlns:a="http://schemas.openxmlformats.org/drawingml/2006/main">
            <a:pPr algn="l">
              <a:def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C706E"/>
                </a:solidFill>
                <a:latin typeface="Microsoft YaHei"/>
                <a:ea typeface="Microsoft YaHei"/>
                <a:cs typeface="Microsoft YaHei"/>
              </a:rPr>
              <a:t>InquiryTeachingPythonService</a:t>
            </a:r>
          </a:p>
        </p:txBody>
      </p:sp>
      <p:sp>
        <p:nvSpPr>
          <p:cNvPr id="4" name="shape-365">
            <a:extLst xmlns:a="http://schemas.openxmlformats.org/drawingml/2006/main">
              <a:ext uri="{FF2B5EF4-FFF2-40B4-BE49-F238E27FC236}">
                <a16:creationId xmlns:a16="http://schemas.microsoft.com/office/drawing/2014/main" id="{2C9244CB-ECB7-47D2-8EE9-55EB7D7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3819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7D70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951542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2026-09-08T07:12:18.3690000Z</dcterms:created>
  <dcterms:modified xsi:type="dcterms:W3CDTF">2026-09-08T07:12:18.3690000Z</dcterms:modified>
</coreProperties>
</file>